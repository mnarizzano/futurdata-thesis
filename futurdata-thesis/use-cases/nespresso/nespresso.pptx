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39712"/>
          </a:xfrm>
          <a:prstGeom prst="rect">
            <a:avLst/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85800"/>
            <a:ext cx="45720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9A7A0"/>
                </a:solidFill>
                <a:latin typeface="Aptos"/>
              </a:rPr>
              <a:t>FUTURDATA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685800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tos"/>
              </a:rPr>
              <a:t>Disassembly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685800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0">
                <a:solidFill>
                  <a:srgbClr val="FFFFFF"/>
                </a:solidFill>
                <a:latin typeface="Aptos"/>
              </a:rPr>
              <a:t>Nespresso Essenza 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83280"/>
            <a:ext cx="685800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7D4E3"/>
                </a:solidFill>
                <a:latin typeface="Aptos"/>
              </a:rPr>
              <a:t>PPTX export • 4 action group(s) • depth: DepthMode.FULL • schema 1.1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892040"/>
            <a:ext cx="3474720" cy="731520"/>
          </a:xfrm>
          <a:prstGeom prst="roundRect">
            <a:avLst>
              <a:gd name="adj" fmla="val 8000"/>
            </a:avLst>
          </a:prstGeom>
          <a:solidFill>
            <a:srgbClr val="1E3450"/>
          </a:solidFill>
          <a:ln>
            <a:solidFill>
              <a:srgbClr val="1E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102352"/>
            <a:ext cx="29718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Nominal weight  2300 g</a:t>
            </a:r>
          </a:p>
        </p:txBody>
      </p:sp>
      <p:pic>
        <p:nvPicPr>
          <p:cNvPr id="9" name="Picture 8" descr="component_20260922_1236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412945"/>
            <a:ext cx="3383280" cy="21235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Nespresso Essenza 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ptos"/>
              </a:rPr>
              <a:t>Export scope and model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975104"/>
            <a:ext cx="21031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ptos"/>
              </a:rPr>
              <a:t>PRODUCT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286000"/>
            <a:ext cx="21031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4213D"/>
                </a:solidFill>
                <a:latin typeface="Aptos"/>
              </a:rPr>
              <a:t>1783269333776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0712" y="178308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975104"/>
            <a:ext cx="21031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ptos"/>
              </a:rPr>
              <a:t>ACTION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286000"/>
            <a:ext cx="21031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4213D"/>
                </a:solidFill>
                <a:latin typeface="Aptos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78308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975104"/>
            <a:ext cx="21031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ptos"/>
              </a:rPr>
              <a:t>BOM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286000"/>
            <a:ext cx="21031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4213D"/>
                </a:solidFill>
                <a:latin typeface="Aptos"/>
              </a:rPr>
              <a:t>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43416" y="1783080"/>
            <a:ext cx="25146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44584" y="1975104"/>
            <a:ext cx="21031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ptos"/>
              </a:rPr>
              <a:t>VALIDATION ISSUES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4" y="2286000"/>
            <a:ext cx="210312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4213D"/>
                </a:solidFill>
                <a:latin typeface="Aptos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46120"/>
            <a:ext cx="54406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502152"/>
            <a:ext cx="22860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PRODUCT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822191"/>
            <a:ext cx="4846320" cy="1600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ptos"/>
              </a:rPr>
              <a:t>Name: Nespresso Essenza Mini
Weight: 2300 g
Material: 2
Color: 4
Depth mode: DepthMode.FULL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246120"/>
            <a:ext cx="5321808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502152"/>
            <a:ext cx="25603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EXPORT BEHAVIOUR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822191"/>
            <a:ext cx="4617720" cy="1600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4213D"/>
                </a:solidFill>
                <a:latin typeface="Aptos"/>
              </a:rPr>
              <a:t>• Parent operation and atomic actions stay grouped.
• Output components and remaining assembly are shown.
• Text and images remain editable in PowerPoint.
• Unknown branch sources are never guessed.
• Source JSON is opened read-only and never modified.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Nespresso Essenza 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ptos"/>
              </a:rPr>
              <a:t>Model warnings and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ptos"/>
              </a:rPr>
              <a:t>Each issue is localized to the corresponding JSON element when possible.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83080"/>
            <a:ext cx="1097280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109728" cy="65836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92807"/>
            <a:ext cx="28346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Aptos"/>
              </a:rPr>
              <a:t>SEVERITY.ERROR · valid_node_types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874519"/>
            <a:ext cx="72237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213D"/>
                </a:solidFill>
                <a:latin typeface="Aptos"/>
              </a:rPr>
              <a:t>Nodes [1783269333776] have an unrecognized type and cannot be interpreted in the disassembly grammar.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176272"/>
            <a:ext cx="7955279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Location: node_ids=[1783269333776]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Nespresso Essenza 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ptos"/>
              </a:rPr>
              <a:t>Tools and safety notices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ptos"/>
              </a:rPr>
              <a:t>Aggregated from step-level and atomic-action metadata.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737360"/>
            <a:ext cx="534924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3017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9A7A0"/>
                </a:solidFill>
                <a:latin typeface="Aptos"/>
              </a:rPr>
              <a:t>TOOLS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617720" cy="3337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ptos"/>
              </a:rPr>
              <a:t>• No tools are specified in this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4924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30175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SAFETY NOTICES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617720" cy="3337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ptos"/>
              </a:rPr>
              <a:t>• No safety notices are specified in this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Nespresso Essenza Mini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BILL OF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ptos"/>
              </a:rPr>
              <a:t>Recovered components — page 1 of 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72768"/>
          <a:ext cx="10789919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749039"/>
                <a:gridCol w="1051560"/>
                <a:gridCol w="1234440"/>
                <a:gridCol w="960120"/>
                <a:gridCol w="1508760"/>
                <a:gridCol w="1645920"/>
              </a:tblGrid>
              <a:tr h="47091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ID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Component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Weight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Material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Color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Quality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Destination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</a:tr>
              <a:tr h="47091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1783269575440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ptos"/>
                        </a:rPr>
                        <a:t>Water Tank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150 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1783269578384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ptos"/>
                        </a:rPr>
                        <a:t>Drip Tray &amp; Grid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100 g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</a:tr>
              <a:tr h="47091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1783269576336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ptos"/>
                        </a:rPr>
                        <a:t>Capsule Bin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80 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1783269576784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ptos"/>
                        </a:rPr>
                        <a:t>Oval-head Security Screws (x4)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10 g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</a:tr>
              <a:tr h="47091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1783269576464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ptos"/>
                        </a:rPr>
                        <a:t>Side Panels (Left &amp; Right)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400 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1783269577232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ptos"/>
                        </a:rPr>
                        <a:t>Brewing Chamber (Capsule slot)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300 g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</a:tr>
              <a:tr h="47091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1783269577168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ptos"/>
                        </a:rPr>
                        <a:t>Top Lever / Handle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150 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1783269575504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ptos"/>
                        </a:rPr>
                        <a:t>Silicone Tubing &amp; Wiring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230 g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</a:tr>
              <a:tr h="47091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1783269575376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ptos"/>
                        </a:rPr>
                        <a:t>Motherboard (PCB)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80 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Nespresso Essenza 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BILL OF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ptos"/>
              </a:rPr>
              <a:t>Recovered components — page 2 of 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72768"/>
          <a:ext cx="10789919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749039"/>
                <a:gridCol w="1051560"/>
                <a:gridCol w="1234440"/>
                <a:gridCol w="960120"/>
                <a:gridCol w="1508760"/>
                <a:gridCol w="1645920"/>
              </a:tblGrid>
              <a:tr h="15697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ID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Component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Weight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Material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Color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Quality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Destination</a:t>
                      </a:r>
                    </a:p>
                  </a:txBody>
                  <a:tcPr marL="64008" marR="64008" marT="36576" marB="36576">
                    <a:solidFill>
                      <a:srgbClr val="132238"/>
                    </a:solidFill>
                  </a:tcPr>
                </a:tc>
              </a:tr>
              <a:tr h="15697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1783269575632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ptos"/>
                        </a:rPr>
                        <a:t>Water Pump (19-bar)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350 g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FFFFF"/>
                    </a:solidFill>
                  </a:tcPr>
                </a:tc>
              </a:tr>
              <a:tr h="15697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1783269575120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4213D"/>
                          </a:solidFill>
                          <a:latin typeface="Aptos"/>
                        </a:rPr>
                        <a:t>Thermoblock (Heater)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450 g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Unknown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14213D"/>
                          </a:solidFill>
                          <a:latin typeface="Aptos"/>
                        </a:rPr>
                        <a:t>—</a:t>
                      </a:r>
                    </a:p>
                  </a:txBody>
                  <a:tcPr marL="64008" marR="64008" marT="36576" marB="36576"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Nespresso Essenza 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ACTION GROUP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ptos"/>
              </a:rPr>
              <a:t>Manually detach the drip tray, water tank, and pull out the used capsule bin. No tools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ptos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ptos"/>
              </a:rPr>
              <a:t>Source: Nespresso Essenza Mini (2300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ptos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ptos"/>
              </a:rPr>
              <a:t>Manually detach the drip tray, water tank, and pull out the used capsule bin. No tools required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194560"/>
            <a:ext cx="39319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ter_t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635504"/>
            <a:ext cx="1146047" cy="764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0" y="3758183"/>
            <a:ext cx="1146047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Water Tank</a:t>
            </a:r>
          </a:p>
        </p:txBody>
      </p:sp>
      <p:pic>
        <p:nvPicPr>
          <p:cNvPr id="16" name="Picture 15" descr="drip_tr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176" y="2635504"/>
            <a:ext cx="1146047" cy="764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28176" y="3758183"/>
            <a:ext cx="1146047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Drip Tray &amp; Grid</a:t>
            </a:r>
          </a:p>
        </p:txBody>
      </p:sp>
      <p:pic>
        <p:nvPicPr>
          <p:cNvPr id="18" name="Picture 17" descr="capsule_bi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3952" y="2635504"/>
            <a:ext cx="1146047" cy="764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283952" y="3758183"/>
            <a:ext cx="1146047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Capsule Bin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4251960"/>
            <a:ext cx="393192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4453128"/>
            <a:ext cx="13716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54880"/>
            <a:ext cx="34747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ptos"/>
              </a:rPr>
              <a:t>• Water Tank (150 g)
• Drip Tray &amp; Grid (100 g)
• Capsule Bin (80 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5486400"/>
            <a:ext cx="34747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ptos"/>
              </a:rPr>
              <a:t>CONTINUES 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5705856"/>
            <a:ext cx="34747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ptos"/>
              </a:rPr>
              <a:t>• Main Housing (1970 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5843016"/>
            <a:ext cx="3474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Material: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Nespresso Essenza Mini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ACTION GROUP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ptos"/>
              </a:rPr>
              <a:t>Remove the 4 proprietary oval-head screws at the bottom of the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ptos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ptos"/>
              </a:rPr>
              <a:t>Source: Main Housing (1970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ptos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ptos"/>
              </a:rPr>
              <a:t>Release Bottom Clips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194560"/>
            <a:ext cx="39319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iamond_release_cli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635504"/>
            <a:ext cx="1146047" cy="764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0" y="3758183"/>
            <a:ext cx="1146047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Action 1</a:t>
            </a:r>
          </a:p>
        </p:txBody>
      </p:sp>
      <p:pic>
        <p:nvPicPr>
          <p:cNvPr id="16" name="Picture 15" descr="oval_screw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176" y="2635504"/>
            <a:ext cx="1146047" cy="764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28176" y="3758183"/>
            <a:ext cx="1146047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Oval-head Security Screws (x4)</a:t>
            </a:r>
          </a:p>
        </p:txBody>
      </p:sp>
      <p:pic>
        <p:nvPicPr>
          <p:cNvPr id="18" name="Picture 17" descr="side_pane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3952" y="2520899"/>
            <a:ext cx="1146047" cy="99324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283952" y="3758183"/>
            <a:ext cx="1146047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Side Panels (Left &amp; Right)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4251960"/>
            <a:ext cx="393192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4453128"/>
            <a:ext cx="13716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54880"/>
            <a:ext cx="34747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ptos"/>
              </a:rPr>
              <a:t>• Oval-head Security Screws (x4) (10 g)
• Side Panels (Left &amp; Right) (400 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5486400"/>
            <a:ext cx="34747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ptos"/>
              </a:rPr>
              <a:t>CONTINUES 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5705856"/>
            <a:ext cx="34747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ptos"/>
              </a:rPr>
              <a:t>• Internal Chassis (Core) (Unknown)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5843016"/>
            <a:ext cx="3474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Material: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Nespresso Essenza Mini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ACTION GROUP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ptos"/>
              </a:rPr>
              <a:t>Unscrew the top lever mechanism and carefully detach the brewing chamber from the water 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ptos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ptos"/>
              </a:rPr>
              <a:t>Source: Internal Chassis (Core) (Unknown)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ptos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ptos"/>
              </a:rPr>
              <a:t>Unscrew the top lever mechanism and carefully detach the brewing chamber from the water lines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194560"/>
            <a:ext cx="39319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rewing_chamb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635504"/>
            <a:ext cx="1146047" cy="764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0" y="3758183"/>
            <a:ext cx="1146047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Brewing Chamber (Capsule slot)</a:t>
            </a:r>
          </a:p>
        </p:txBody>
      </p:sp>
      <p:pic>
        <p:nvPicPr>
          <p:cNvPr id="16" name="Picture 15" descr="top_le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176" y="2635504"/>
            <a:ext cx="1146047" cy="764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28176" y="3758183"/>
            <a:ext cx="1146047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Top Lever / Handle</a:t>
            </a:r>
          </a:p>
        </p:txBody>
      </p:sp>
      <p:pic>
        <p:nvPicPr>
          <p:cNvPr id="18" name="Picture 17" descr="lower_eng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3287" y="2331720"/>
            <a:ext cx="1027376" cy="13715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283952" y="3758183"/>
            <a:ext cx="1146047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Lower Engine 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4251960"/>
            <a:ext cx="393192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4453128"/>
            <a:ext cx="13716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54880"/>
            <a:ext cx="34747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ptos"/>
              </a:rPr>
              <a:t>• Brewing Chamber (Capsule slot) (300 g)
• Top Lever / Handle (150 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5486400"/>
            <a:ext cx="34747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ptos"/>
              </a:rPr>
              <a:t>CONTINUES 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5705856"/>
            <a:ext cx="34747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ptos"/>
              </a:rPr>
              <a:t>• Lower Engine Core (1110 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5843016"/>
            <a:ext cx="3474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Material: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Nespresso Essenza Mini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9184"/>
            <a:ext cx="53035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ACTION GROUP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9728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4213D"/>
                </a:solidFill>
                <a:latin typeface="Aptos"/>
              </a:rPr>
              <a:t>Unplug the wiring harness from the motherboard, pull out the water pump, and detach the thermoblock heater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109728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ptos"/>
              </a:rPr>
              <a:t>Atomic actions are grouped under their parent disassembly operation.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54480"/>
            <a:ext cx="10972800" cy="438912"/>
          </a:xfrm>
          <a:prstGeom prst="roundRect">
            <a:avLst>
              <a:gd name="adj" fmla="val 8000"/>
            </a:avLst>
          </a:prstGeom>
          <a:solidFill>
            <a:srgbClr val="DFF5F4"/>
          </a:solidFill>
          <a:ln>
            <a:solidFill>
              <a:srgbClr val="DFF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82296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213D"/>
                </a:solidFill>
                <a:latin typeface="Aptos"/>
              </a:rPr>
              <a:t>Source: Lower Engine Core (1110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1664208"/>
            <a:ext cx="17830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ptos"/>
              </a:rPr>
              <a:t>explicit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94560"/>
            <a:ext cx="68122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ATOMIC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16352"/>
            <a:ext cx="347472" cy="347472"/>
          </a:xfrm>
          <a:prstGeom prst="roundRect">
            <a:avLst>
              <a:gd name="adj" fmla="val 8000"/>
            </a:avLst>
          </a:prstGeom>
          <a:solidFill>
            <a:srgbClr val="19A7A0"/>
          </a:solidFill>
          <a:ln>
            <a:solidFill>
              <a:srgbClr val="19A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47472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798064"/>
            <a:ext cx="5715000" cy="47548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4213D"/>
                </a:solidFill>
                <a:latin typeface="Aptos"/>
              </a:rPr>
              <a:t>Unplug the wiring harness from the motherboard, pull out the water pump, and detach the thermoblock heater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2194560"/>
            <a:ext cx="39319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ilicone_tub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635504"/>
            <a:ext cx="1146047" cy="764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0" y="3758183"/>
            <a:ext cx="1146047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Silicone Tubing &amp; Wiring</a:t>
            </a:r>
          </a:p>
        </p:txBody>
      </p:sp>
      <p:pic>
        <p:nvPicPr>
          <p:cNvPr id="16" name="Picture 15" descr="mother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8176" y="2635504"/>
            <a:ext cx="1146047" cy="764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28176" y="3758183"/>
            <a:ext cx="1146047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Motherboard (PCB)</a:t>
            </a:r>
          </a:p>
        </p:txBody>
      </p:sp>
      <p:pic>
        <p:nvPicPr>
          <p:cNvPr id="18" name="Picture 17" descr="water_pum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3952" y="2635504"/>
            <a:ext cx="1146047" cy="764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283952" y="3758183"/>
            <a:ext cx="1146047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Water Pump (19-bar)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4251960"/>
            <a:ext cx="393192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4453128"/>
            <a:ext cx="13716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9A7A0"/>
                </a:solidFill>
                <a:latin typeface="Aptos"/>
              </a:rPr>
              <a:t>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754880"/>
            <a:ext cx="34747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ptos"/>
              </a:rPr>
              <a:t>• Silicone Tubing &amp; Wiring (230 g)
• Motherboard (PCB) (80 g)
• Water Pump (19-bar) (350 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5486400"/>
            <a:ext cx="34747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9A7A0"/>
                </a:solidFill>
                <a:latin typeface="Aptos"/>
              </a:rPr>
              <a:t>CONTINUES 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5705856"/>
            <a:ext cx="34747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4213D"/>
                </a:solidFill>
                <a:latin typeface="Aptos"/>
              </a:rPr>
              <a:t>End of this branch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5843016"/>
            <a:ext cx="34747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Material: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Nespresso Essenza Mini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234440"/>
            <a:ext cx="475488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9A7A0"/>
                </a:solidFill>
                <a:latin typeface="Aptos"/>
              </a:rPr>
              <a:t>EXPORT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9601200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ptos"/>
              </a:rPr>
              <a:t>4 action groups prepared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969264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ptos"/>
              </a:rPr>
              <a:t>The PowerPoint remains fully editable: text, tables, images and component information can be revised after export.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800600"/>
            <a:ext cx="4937760" cy="777240"/>
          </a:xfrm>
          <a:prstGeom prst="roundRect">
            <a:avLst>
              <a:gd name="adj" fmla="val 8000"/>
            </a:avLst>
          </a:prstGeom>
          <a:solidFill>
            <a:srgbClr val="1E3450"/>
          </a:solidFill>
          <a:ln>
            <a:solidFill>
              <a:srgbClr val="1E3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5029200"/>
            <a:ext cx="44805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9A7A0"/>
                </a:solidFill>
                <a:latin typeface="Aptos"/>
              </a:rPr>
              <a:t>Nespresso Essenza Mini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868680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4748B"/>
                </a:solidFill>
                <a:latin typeface="Aptos"/>
              </a:rPr>
              <a:t>Nespresso Essenza 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6547104"/>
            <a:ext cx="73152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64748B"/>
                </a:solidFill>
                <a:latin typeface="Aptos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