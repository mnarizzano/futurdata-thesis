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39712"/>
          </a:xfrm>
          <a:prstGeom prst="rect">
            <a:avLst/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4572000" cy="320040"/>
          </a:xfrm>
          <a:prstGeom prst="rect">
            <a:avLst/>
          </a:prstGeom>
          <a:noFill/>
        </p:spPr>
        <p:txBody>
          <a:bodyPr wrap="square" lIns="12801" rIns="12801" tIns="12801" bIns="12801" anchor="t">
            <a:norm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1">
                <a:solidFill>
                  <a:srgbClr val="19A7A0"/>
                </a:solidFill>
                <a:latin typeface="Arial"/>
              </a:rPr>
              <a:t>FUTURDATA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685800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ts val="475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Disassembly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6858000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ts val="3250"/>
              </a:lnSpc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Refrigerator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6858000" cy="548640"/>
          </a:xfrm>
          <a:prstGeom prst="rect">
            <a:avLst/>
          </a:prstGeom>
          <a:noFill/>
        </p:spPr>
        <p:txBody>
          <a:bodyPr wrap="square" lIns="21945" rIns="21945" tIns="21945" bIns="21945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C7D4E3"/>
                </a:solidFill>
                <a:latin typeface="Arial"/>
              </a:rPr>
              <a:t>PPTX export • 25 action group(s) • depth: DepthMode.FULL • schema 1.1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892040"/>
            <a:ext cx="3474720" cy="73152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1E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102352"/>
            <a:ext cx="2971800" cy="274320"/>
          </a:xfrm>
          <a:prstGeom prst="rect">
            <a:avLst/>
          </a:prstGeom>
          <a:noFill/>
        </p:spPr>
        <p:txBody>
          <a:bodyPr wrap="square" lIns="10972" rIns="10972" tIns="10972" bIns="10972" anchor="t">
            <a:normAutofit/>
          </a:bodyPr>
          <a:lstStyle/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Nominal weight  Unknown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1143000"/>
            <a:ext cx="2880360" cy="443484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34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2697480"/>
            <a:ext cx="2148840" cy="9144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ctr">
              <a:lnSpc>
                <a:spcPts val="2500"/>
              </a:lnSpc>
              <a:spcAft>
                <a:spcPts val="0"/>
              </a:spcAft>
            </a:pPr>
            <a:r>
              <a:rPr sz="2000" b="1">
                <a:solidFill>
                  <a:srgbClr val="7B92AB"/>
                </a:solidFill>
                <a:latin typeface="Arial"/>
              </a:rPr>
              <a:t>PRODUCT
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Refrigerator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 / 43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ts val="3375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Export scope and model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975104"/>
            <a:ext cx="21031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PRODUCT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286000"/>
            <a:ext cx="21031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ts val="2500"/>
              </a:lnSpc>
              <a:spcAft>
                <a:spcPts val="0"/>
              </a:spcAft>
            </a:pPr>
            <a:r>
              <a:rPr sz="2000" b="1">
                <a:solidFill>
                  <a:srgbClr val="14213D"/>
                </a:solidFill>
                <a:latin typeface="Arial"/>
              </a:rPr>
              <a:t>2986137510096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0712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975104"/>
            <a:ext cx="21031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ACTION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286000"/>
            <a:ext cx="21031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ts val="2875"/>
              </a:lnSpc>
              <a:spcAft>
                <a:spcPts val="0"/>
              </a:spcAft>
            </a:pPr>
            <a:r>
              <a:rPr sz="2300" b="1">
                <a:solidFill>
                  <a:srgbClr val="14213D"/>
                </a:solidFill>
                <a:latin typeface="Arial"/>
              </a:rPr>
              <a:t>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975104"/>
            <a:ext cx="21031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BOM COMPONENTS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286000"/>
            <a:ext cx="21031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ts val="2875"/>
              </a:lnSpc>
              <a:spcAft>
                <a:spcPts val="0"/>
              </a:spcAft>
            </a:pPr>
            <a:r>
              <a:rPr sz="2300" b="1">
                <a:solidFill>
                  <a:srgbClr val="14213D"/>
                </a:solidFill>
                <a:latin typeface="Arial"/>
              </a:rPr>
              <a:t>50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43416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44584" y="1975104"/>
            <a:ext cx="21031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VALIDATION ISSUES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4584" y="2286000"/>
            <a:ext cx="21031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ts val="2875"/>
              </a:lnSpc>
              <a:spcAft>
                <a:spcPts val="0"/>
              </a:spcAft>
            </a:pPr>
            <a:r>
              <a:rPr sz="2300" b="1">
                <a:solidFill>
                  <a:srgbClr val="14213D"/>
                </a:solidFill>
                <a:latin typeface="Arial"/>
              </a:rPr>
              <a:t>19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46120"/>
            <a:ext cx="54406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502152"/>
            <a:ext cx="22860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PRODUCT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22191"/>
            <a:ext cx="4846320" cy="1600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Name: Refrigerator
Weight: Unknown
Material: Unknown
Color: Unknown
Depth mode: DepthMode.FULL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246120"/>
            <a:ext cx="5321808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502152"/>
            <a:ext cx="25603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EXPORT BEHAVIOUR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822191"/>
            <a:ext cx="4617720" cy="1600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• Parent operation and atomic actions stay grouped.
• Output components and remaining assembly are shown.
• Text and images remain editable in PowerPoint.
• Unknown branch sources are never guessed.
• Source JSON is opened read-only and never modified.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Refrigerator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2 / 43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ts val="3375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Model warnings and errors —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Details 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Details [2]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Details [3]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32888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32888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42616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SEVERITY.INFO · mass_balance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24328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Mass balance not verifiable: the product has no weight; 75 component(s) have no weight.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80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Details [4]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82696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282696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92424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WARNING · images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374136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Image file not found: images/12.png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675887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steps[1].actions[0].image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32504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032504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42232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WARNING · images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123944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Image file not found: images/13.png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425696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steps[1].actions[2].image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782312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782312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92040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WARNING · images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873752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Image file not found: images/15.png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5175504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steps[2].actions[0].image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53212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553212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641848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WARNING · images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5623560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Image file not found: images/20.png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5925312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steps[4].actions[0].image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Refrigerator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3 / 43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ts val="3375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Model warnings and errors —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WARNING ·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Image file not found: images/22.png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steps[5].actions[0].image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32888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32888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42616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WARNING ·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24328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Image file not found: images/24.png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80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steps[6].actions[0].image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82696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282696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92424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WARNING · images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374136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Image file not found: images/28.png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675887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steps[7].actions[2].image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32504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032504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42232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WARNING · images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123944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Image file not found: images/31.png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425696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steps[10].actions[0].image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782312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782312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92040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WARNING · images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873752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Image file not found: images/32.png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5175504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steps[10].actions[1].image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53212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553212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641848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WARNING · images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5623560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Image file not found: images/33.png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5925312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steps[10].actions[2].image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Refrigerator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4 / 43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ts val="3375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Model warnings and errors —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WARNING ·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Image file not found: images/manual_page_5.png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steps[13].actions[0].image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32888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32888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42616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WARNING ·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24328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Image file not found: images/1.jpg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80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steps[13].actions[1].image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82696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282696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92424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WARNING · images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374136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Image file not found: images/2.jpg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675887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steps[13].actions[2].image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32504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032504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42232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WARNING · images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123944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Image file not found: images/3.jpg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425696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steps[13].actions[4].image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782312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782312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92040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WARNING · images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873752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Image file not found: images/16.png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5175504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steps[16].actions[0].image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53212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553212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641848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WARNING · images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5623560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Image file not found: images/23.png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5925312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steps[19].actions[3].image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Refrigerator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5 / 43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ts val="3375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Model warnings and errors —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192024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WARNING ·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Image file not found: images/26.png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Location: steps[20].actions[0].image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Refrigerator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6 / 43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ts val="3375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Tools and safety notices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Aggregated from step-level and atomic-action metadata.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534924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30175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1">
                <a:solidFill>
                  <a:srgbClr val="19A7A0"/>
                </a:solidFill>
                <a:latin typeface="Arial"/>
              </a:rPr>
              <a:t>TOOLS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617720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• Flat-blade screwdriver
• Clean gloves
• Wet cloth / sealed-system service equipment
• Flat-tip screwdriver
• Phillips screwdriver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34924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30175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SAFETY NOTICES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4617720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• No safety notices are specified in this model.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Refrigerator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7 / 43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ts val="3375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Recovered components — page 1 of 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2986178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048080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Mullion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2986178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046864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Mullion screws (2)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2986137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649296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Sub PCB assembly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2986137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649232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Sub-PCB screw (1)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2986137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650576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Top LED assembly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2986137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650128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Lamp cover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2986137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650704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Lamp case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2986137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650832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Screws (2 + 2)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2986137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651856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Bottom cap-decor LED assembly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Refrigerator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8 / 43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ts val="3375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Recovered components — page 2 of 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2986137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651600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LED-lamp cover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2986137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652752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Display PCB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2986137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653776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Water button lever / funnel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2986137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653520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Screws (3)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2986137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654864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Icemaker / motor-cover assembly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2986137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654608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Icemaker screws (3)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2986137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655952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Ice bin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2986137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656592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Middle pull-out drawer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2986137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657552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Cover Front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Refrigerator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9 / 43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ts val="3375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Recovered components — page 3 of 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2986137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657360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Cover Front screws (2)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2986137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658640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Refrigerator door foam assembly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2986137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658256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Right hinge-cover screw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2986137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659856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Home Bar door cover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2986137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659472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Upper hinge cap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2986137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659984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Hinge screw (1)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2986137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660112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Bar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2986137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660624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3-Way valve (replace if leaking / failed)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2986137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514320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Left refrigerator door assembly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Refrigerator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10 / 43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ts val="3375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Recovered components — page 4 of 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2986137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516240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Top hinge cover / screw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2986137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513104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Grounding screw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2986178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040592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Door gasket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2986137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650000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Ice fan assembly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2986137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651344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Side LED assembly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2986137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651088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Side light cover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2986137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652368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Dispenser cover / assembly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2986137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652112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Drain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2986137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653136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Ice button / lever assembly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Refrigerator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11 / 43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ts val="3375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Recovered components — page 5 of 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2986137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652880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Lever screw (1)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2986137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653264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Spring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2986137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654352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Ice corner door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2986137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654032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Cover Home Bar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2986137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655376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Cap duct motor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2986137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655120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Motor screws (3)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2986137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656272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Top pull-out drawer / tray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2986137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656976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Home Bar case assembly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2986137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656720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Home Bar door basket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Refrigerator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12 / 43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ts val="3375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Recovered components — page 6 of 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784860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784860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2986137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657104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Home Bar basket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2986137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658000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Frame Door / Home Bar door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784860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2986137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657808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Top frame-door screws (3)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2986137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659216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Frame door switch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784860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2986137</a:t>
                      </a:r>
                    </a:p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658896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Cap decor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ts val="1125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Refrigerator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13 / 43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ts val="3375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mullion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Remove two screws.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Lift the mullion up carefully.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Disconnect the wire harness.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6168" y="2331720"/>
            <a:ext cx="2310063" cy="137159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Action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Mullion (Unknown)
• Mullion screws (2) (Unknown)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End of this branch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Refrigerator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14 / 43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ts val="3375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Sub PCB for working dispenser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Remove one screw.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Lift the Sub PCB up carefully.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Reverse the Sub PCB cover.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Disconnect the capacitor housing.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90118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19472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882896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Disconnect the wire harness.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0" y="2331720"/>
            <a:ext cx="1773936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Action 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56064" y="2331720"/>
            <a:ext cx="1773936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56064" y="3758183"/>
            <a:ext cx="1773936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Action 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Sub PCB assembly (Unknown)
• Sub-PCB screw (1) (Unknown)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End of this branch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Refrigerator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15 / 43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ts val="3375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refrigerator top LED lamp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Unplug refrigerator / disconnect power; remove top shelf or shelves if 
necessary.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Release two screws.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Hold both ends and pull downward to remove the lamp case/cover 
assembly.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Release another two screws to separate case lamp and cover lamp.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90118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19472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882896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Use a flat-blade screwdriver to remove the lamp cover.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542239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44068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540410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Open the hook part and pull out the LED assembly.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Action 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</a:pPr>
            <a:r>
              <a:rPr sz="900" b="0">
                <a:solidFill>
                  <a:srgbClr val="14213D"/>
                </a:solidFill>
                <a:latin typeface="Arial"/>
              </a:rPr>
              <a:t>• Top LED assembly (Unknown)
• Lamp cover (Unknown)
• Lamp case (Unknown)
• Screws (2 + 2) (Unknown)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End of this branch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Refrigerator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16 / 43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ts val="3375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bottom cap-decor LED lamp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Unplug the refrigerator power cord and open the refrigerator door 
requiring disassembly.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Insert a flat screwdriver into the service hole and remove the cap-decor 
LED-lamp cover.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Remove the LED assembly from the connector.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Bottom cap-decor LED assembly (Unknown)
• LED-lamp cover (Unknown)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End of this branch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Flat-blade screwdriver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Refrigerator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17 / 43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ts val="3375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display PCB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Remove the Display PCB fixing screws as shown.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Action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Display PCB (Unknown)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End of this branch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Refrigerator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18 / 43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ts val="3375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water button assembly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Remove three screws holding the funnel and button lever.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Remove the funnel and button lever.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Push the hook as shown.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Action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Water button lever / funnel (Unknown)
• Screws (3) (Unknown)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End of this branch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Refrigerator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19 / 43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ts val="3375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icemaker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Remove three screws marked in the illustration.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Grasp the bottom of the motor-cover assembly and pull it out slowly.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Disconnect the wire harness from the compartment wall.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Action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Icemaker / motor-cover assembly (Unknown)
• Icemaker screws (3) (Unknown)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End of this branch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Refrigerator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20 / 43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ts val="3375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ice bin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Put on clean gloves before removing the ice bin, per the manual note.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Grip the handles.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Lift the lower part slightly.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Take the ice bin out slowly.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Action 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Ice bin (Unknown)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End of this branch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Refrigerator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21 / 43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ts val="3375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middle pull-out drawer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Pull the middle drawer to full extension.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Lift the front of the drawer, then pull it straight out.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Middle pull-out drawer (Unknown)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End of this branch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No tools specified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Refrigerator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22 / 43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ts val="3375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Home Bar cover front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Lift the basket door up and pull it out at an angle.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Remove two Cover Front screws and pull the Cover Front out at an 
angle.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Cover Front (Unknown)
• Cover Front screws (2) (Unknown)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End of this branch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No tools specified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Refrigerator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23 / 43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ts val="3375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refrigerator door foam assembly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Remove the screw of the right hinge cover.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Remove two wire connectors.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Rotate the hinge lever clockwise.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Separate the Home Bar.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90118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19472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882896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Pull the refrigerator door-foam assembly up and out.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0" y="2331720"/>
            <a:ext cx="1146047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3758183"/>
            <a:ext cx="1146047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Action 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28176" y="2331720"/>
            <a:ext cx="1146047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28176" y="3758183"/>
            <a:ext cx="1146047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Action 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83952" y="2331720"/>
            <a:ext cx="1146047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83952" y="3758183"/>
            <a:ext cx="1146047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Action 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Refrigerator door foam assembly (Unknown)
• Right hinge-cover screw (Unknown)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End of this branch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Refrigerator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24 / 43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ts val="3375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Home Bar door 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Remove the screw located on the top of the hinge.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Remove the upper hinge cap.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Push the bar upward from the bottom through the SVC hole (bottom 
hinge).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Pull the bar out through the top hinge.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90118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19472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882896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Separate the cover.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Home Bar door cover (Unknown)
• Upper hinge cap (Unknown)
• Hinge screw (1) (Unknown)
• Bar (Unknown)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End of this branch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No tools specified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Refrigerator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25 / 43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ts val="3375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Prepare / service sealed system and 3-way valve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Begin with the power cord unplugged. Plug it in, then unplug it again 6-12 seconds 
later so both sides of the 3-way valve are open for proper evacuation.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When using a torch on the 3-way valve, wrap it with a wet cloth 
because it contains plastic parts.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Always replace the 3-way valve if there is a leak at any of its three tubes; valve-failure service 
uses the same method. Follow sections 3-22 and 3-23 before sealed-system service.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3-Way valve (replace if leaking / failed) 
(Unknown)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End of this branch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Wet cloth / sealed-system service equipment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Refrigerator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26 / 43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ts val="3375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left refrigerator door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14213D"/>
                </a:solidFill>
                <a:latin typeface="Arial"/>
              </a:rPr>
              <a:t>Before beginning, unplug the refrigerator; remove food and bins from the 
doors. Disconnect the water supply tube by pushing back the disconnect ring.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Open the door. Loosen the top-hinge-cover screw; pry back the hooks 
on the front underside and lift the cover.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Disconnect the door-switch wire harness and remove the cover; pull 
out the tube.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Disconnect all three wiring harnesses and remove the grounding screw.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90118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19472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882896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Rotate the hinge lever counterclockwise and lift the top hinge free of 
the hinge-lever latch.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542239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44068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540410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Lift the door from the middle hinge pin and remove it. Place it inside-face-up on a 
non-scratch surface. CAUTION: support the door so it does not fall forward.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772400" y="2331720"/>
            <a:ext cx="1146047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0" y="3758183"/>
            <a:ext cx="1146047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Action 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28176" y="2331720"/>
            <a:ext cx="1146047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28176" y="3758183"/>
            <a:ext cx="1146047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Action 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283952" y="2331720"/>
            <a:ext cx="1146047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83952" y="3758183"/>
            <a:ext cx="1146047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Action 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Left refrigerator door assembly (Unknown)
• Top hinge cover / screw (Unknown)
• Grounding screw (Unknown)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End of this branch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Refrigerator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27 / 43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ts val="3375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door gasket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Remove the gasket from the gasket channel at the door liner as 
illustrated.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4973" y="2331720"/>
            <a:ext cx="2352453" cy="137159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Action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Door gasket (Unknown)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End of this branch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Refrigerator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28 / 43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ts val="3375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ice fan assembly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Remove the plastic guide for slides on the left side by unscrewing 
Phillips-head screws.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Pull out the sensor cover using the illustrated tool method.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Pull out the grille cover using the illustrated tool method.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Reach inside the grille and disassemble as illustrated.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90118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19472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882896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Disconnect the grille-assembly wire harness.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542239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44068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540410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Remove the ice-fan assembly by loosening all screws.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Ice fan assembly (Unknown)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End of this branch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Phillips screwdriver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Refrigerator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29 / 43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ts val="3375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refrigerator side LED lamp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Unplug the refrigerator power cord.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Insert a flat screwdriver into the service hole and remove the light cover.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Remove the LED assembly from the connector.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Action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Side LED assembly (Unknown)
• Side light cover (Unknown)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End of this branch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Refrigerator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30 / 43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ts val="3375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dispenser 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Pull out the drain.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Hold the inner side of the dispenser and pull forward to remove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Remove the lead wire. CAUTION: during replacement, do not let the 
lead wire come off and do not pinch the water line.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Dispenser cover / assembly (Unknown)
• Drain (Unknown)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End of this branch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No tools specified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Refrigerator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31 / 43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ts val="3375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ice button assembly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Remove the one screw holding the lever.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Remove the spring from the hook.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Push and pull on the tab to remove the assembly.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Ice button / lever assembly (Unknown)
• Lever screw (1) (Unknown)
• Spring (Unknown)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End of this branch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No tools specified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Refrigerator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32 / 43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ts val="3375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ice corner door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Loosen the front screw.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Remove the Cover Home Bar.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Lift up the hinge with one hand.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Pull out the Ice Corner Door with the other hand.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Action 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Ice corner door (Unknown)
• Cover Home Bar (Unknown)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End of this branch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Refrigerator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33 / 43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ts val="3375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cap duct motor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Separate the housing of the cap-duct motor.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Unscrew three screws to disassemble the motor.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When replacing the motor, check the door-duct and link position for 
proper fit.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ct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Action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Cap duct motor (Unknown)
• Motor screws (3) (Unknown)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End of this branch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Refrigerator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34 / 43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ts val="3375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top pull-out drawer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Use a flat-blade screwdriver to push the tab in on the left rail; push the 
right-rail tab in with a finger.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After both tabs are pushed in, lift the tray up and out.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Top pull-out drawer / tray (Unknown)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End of this branch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Flat-blade screwdriver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Refrigerator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35 / 43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ts val="3375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Home Bar case / baskets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Lift the Home Bar upward at an angle and pull straight out.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Door basket of Home Bar door: lift the basket up and pull straight out.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Door basket of Home Bar: lift the basket up and pull straight out. Note: 
some baskets vary and fit only one location.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Home Bar case assembly (Unknown)
• Home Bar door basket (Unknown)
• Home Bar basket (Unknown)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End of this branch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No tools specified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Refrigerator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36 / 43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ts val="3375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Home Bar door / frame door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Remove three screws on the top of the Frame Door.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Pull the Frame Door up and out.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Frame Door / Home Bar door (Unknown)
• Top frame-door screws (3) (Unknown)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End of this branch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No tools specified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Refrigerator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37 / 43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ts val="3375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frame door switch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Remove screws on the upper hinge assembly.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Separate the cap-decor on the frame door.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Press the door-switch hook, then push it outward.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Remove the wire connector for replacement.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ts val="1375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Frame door switch (Unknown)
• Cap decor (Unknown)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End of this branch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ts val="1125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No tools specified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Refrigerator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38 / 43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234440"/>
            <a:ext cx="475488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sz="1200" b="1">
                <a:solidFill>
                  <a:srgbClr val="19A7A0"/>
                </a:solidFill>
                <a:latin typeface="Arial"/>
              </a:rPr>
              <a:t>EXPORT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960120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ts val="4500"/>
              </a:lnSpc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25 action groups prepared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969264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ts val="2250"/>
              </a:lnSpc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The PowerPoint remains fully editable: text, tables, images and component information 
can be revised after export.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800600"/>
            <a:ext cx="4937760" cy="77724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1E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029200"/>
            <a:ext cx="44805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ts val="1625"/>
              </a:lnSpc>
              <a:spcAft>
                <a:spcPts val="0"/>
              </a:spcAft>
            </a:pPr>
            <a:r>
              <a:rPr sz="1300" b="1">
                <a:solidFill>
                  <a:srgbClr val="19A7A0"/>
                </a:solidFill>
                <a:latin typeface="Arial"/>
              </a:rPr>
              <a:t>Refrigerator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Refrigerator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39 / 43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CONTINUED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ts val="3375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Details [1] - slide 3,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881360" cy="4480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SEVERITY.WARNING · composite_single_continuation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Refrigerator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40 / 43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CONTINUED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ts val="3375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Details [2] - slide 3,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881360" cy="4480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Component 2986137510096 continues into 25 operations [2986137514064, 2986137649424, 2986137649552, 
2986137650960, 2986137651472, 2986137651984, 2986137652496, 2986137652624, 2986137653392, 2986137653904, 
2986137654480, 2986137654992, 2986137655504, 2986137655632, 2986137656080, 2986137656400, 2986137657232, 
2986137657680, 2986137658128, 2986137658768, 2986137659344, 2986137660240, 2986178042384, 2986178047120, 
2986178048720]; a composite must be decomposed by a single successive operation (extract one part, the rest continues), 
not several in parallel.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Refrigerator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41 / 43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CONTINUED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ts val="3375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Details [3] - slide 3,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881360" cy="4480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Location: node_ids=[2986137510096, 2986137514064, 2986137649424, 2986137649552, 2986137650960, 2986137651472, 
2986137651984, 2986137652496, 2986137652624, 2986137653392, 2986137653904, 2986137654480, 2986137654992, 
2986137655504, 2986137655632, 2986137656080, 2986137656400, 2986137657232, 2986137657680, 2986137658128, 
2986137658768, 2986137659344, 2986137660240, 2986178042384, 2986178047120, 2986178048720]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Refrigerator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42 / 43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ts val="125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CONTINUED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ts val="3375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Details [4] - slide 3,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881360" cy="4480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ts val="175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Location: node_ids=[2986137355664, 2986137356176, 2986137358992, 2986137359248, 2986137360784, 2986137363088, 
2986137365392, 2986137366928, 2986137367952, 2986137368464, 2986137368976, 2986137370000, 2986137370256, 
2986137506896, 2986137509008, 2986137509776, 2986137510544, 2986137511696, 2986137513104, 2986137513616, 
2986137514320, 2986137515216, 2986137516240, 2986137649232, 2986137649296, 2986137650000, 2986137650128, 
2986137650576, 2986137650704, 2986137650832, 2986137651088, 2986137651344, 2986137651600, 2986137651856, 
2986137652112, 2986137652368, 2986137652752, 2986137652880, 2986137653136, 2986137653264, 2986137653520, 
2986137653776, 2986137654032, 2986137654352, 2986137654608, 2986137654864, 2986137655120, 2986137655376, 
2986137655952, 2986137656272, 2986137656592, 2986137656720, 2986137656976, 2986137657104, 2986137657360, 
2986137657552, 2986137657808, 2986137658000, 2986137658256, 2986137658640, 2986137658896, 2986137659216, 
2986137659472, 2986137659856, 2986137659984, 2986137660112, 2986137660624, 2986178037520, 2986178040592, 
2986178040656, 2986178042000, 2986178043088, 2986178046864, 2986178048080, 2986178051216]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Refrigerator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ts val="1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43 / 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