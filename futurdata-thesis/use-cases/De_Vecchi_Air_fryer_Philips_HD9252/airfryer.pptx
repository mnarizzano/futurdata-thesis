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39712"/>
          </a:xfrm>
          <a:prstGeom prst="rect">
            <a:avLst/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85800"/>
            <a:ext cx="45720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9A7A0"/>
                </a:solidFill>
                <a:latin typeface="Aptos"/>
              </a:rPr>
              <a:t>FUTURDATA 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6858000" cy="7315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Aptos"/>
              </a:rPr>
              <a:t>Disassembly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57400"/>
            <a:ext cx="6858000" cy="10515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0">
                <a:solidFill>
                  <a:srgbClr val="FFFFFF"/>
                </a:solidFill>
                <a:latin typeface="Aptos"/>
              </a:rPr>
              <a:t>Air fryer Philips HD9252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383280"/>
            <a:ext cx="685800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C7D4E3"/>
                </a:solidFill>
                <a:latin typeface="Aptos"/>
              </a:rPr>
              <a:t>PPTX export • 16 action group(s) • depth: DepthMode.FULL • schema 1.1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4892040"/>
            <a:ext cx="3474720" cy="731520"/>
          </a:xfrm>
          <a:prstGeom prst="roundRect">
            <a:avLst>
              <a:gd name="adj" fmla="val 8000"/>
            </a:avLst>
          </a:prstGeom>
          <a:solidFill>
            <a:srgbClr val="1E3450"/>
          </a:solidFill>
          <a:ln>
            <a:solidFill>
              <a:srgbClr val="1E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5102352"/>
            <a:ext cx="29718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Nominal weight  4500 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66760" y="1143000"/>
            <a:ext cx="2880360" cy="4434840"/>
          </a:xfrm>
          <a:prstGeom prst="roundRect">
            <a:avLst>
              <a:gd name="adj" fmla="val 8000"/>
            </a:avLst>
          </a:prstGeom>
          <a:solidFill>
            <a:srgbClr val="1E3450"/>
          </a:solidFill>
          <a:ln>
            <a:solidFill>
              <a:srgbClr val="3451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32520" y="2697480"/>
            <a:ext cx="2148840" cy="9144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7B92AB"/>
                </a:solidFill>
                <a:latin typeface="Aptos"/>
              </a:rPr>
              <a:t>PRODUCT
IMAGE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Air fryer Philips HD9252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1 / 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Export scope and model summary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783080"/>
            <a:ext cx="25146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1975104"/>
            <a:ext cx="21031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PRODUCT 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2286000"/>
            <a:ext cx="21031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4213D"/>
                </a:solidFill>
                <a:latin typeface="Aptos"/>
              </a:rPr>
              <a:t>2327511012176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10712" y="1783080"/>
            <a:ext cx="25146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1975104"/>
            <a:ext cx="21031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ACTION GROUPS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2286000"/>
            <a:ext cx="21031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4213D"/>
                </a:solidFill>
                <a:latin typeface="Aptos"/>
              </a:rPr>
              <a:t>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27064" y="1783080"/>
            <a:ext cx="25146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28232" y="1975104"/>
            <a:ext cx="21031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BOM COMPONENTS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2" y="2286000"/>
            <a:ext cx="21031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4213D"/>
                </a:solidFill>
                <a:latin typeface="Aptos"/>
              </a:rPr>
              <a:t>18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43416" y="1783080"/>
            <a:ext cx="25146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44584" y="1975104"/>
            <a:ext cx="21031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VALIDATION ISSUES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44584" y="2286000"/>
            <a:ext cx="21031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4213D"/>
                </a:solidFill>
                <a:latin typeface="Aptos"/>
              </a:rPr>
              <a:t>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246120"/>
            <a:ext cx="544068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502152"/>
            <a:ext cx="22860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PRODUCT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822191"/>
            <a:ext cx="4846320" cy="1600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Name: Air fryer Philips HD9252
Weight: 4500 g
Material: 6
Color: 4
Depth mode: DepthMode.FULL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3246120"/>
            <a:ext cx="5321808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3502152"/>
            <a:ext cx="2560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EXPORT BEHAVIOUR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822191"/>
            <a:ext cx="4617720" cy="1600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4213D"/>
                </a:solidFill>
                <a:latin typeface="Aptos"/>
              </a:rPr>
              <a:t>• Parent operation and atomic actions stay grouped.
• Output components and remaining assembly are shown.
• Text and images remain editable in PowerPoint.
• Unknown branch sources are never guessed.
• Source JSON is opened read-only and never modified.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Air fryer Philips HD9252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2 / 23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Model warnings and errors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Each issue is localized to the corresponding JSON element when possible.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83080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783080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92807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SEVERITY.WARNING · mass_balance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71800" y="1874519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Mass imbalance: leaf components sum to 3304 but the product weighs 4500 (26.6% off).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2176272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node_ids=[2327511012176]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532888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2532888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642616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WARNING · step_mass_balance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2624328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Input 'Air fryer Philips HD9252' weighs 4500; outputs plus continuation weigh 3400 (24.4% difference).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2926080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steps[0]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282696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" y="3282696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392424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WARNING · step_mass_balance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1800" y="3374136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Input 'Inferior body unscrewed' weighs 2612; outputs plus continuation weigh 2652 (1.5% difference).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1800" y="3675887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steps[5]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032504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4360" y="4032504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142232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WARNING · step_mass_balance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71800" y="4123944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Input 'Basket' weighs 400; outputs plus continuation weigh 250 (37.5% difference).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71800" y="4425696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steps[10]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4782312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4360" y="4782312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892040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WARNING · step_mass_balance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71800" y="4873752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Input 'Tray with handle' weighs 250; outputs plus continuation weigh 254 (1.6% difference).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71800" y="5175504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steps[11]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5532120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94360" y="5532120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5641848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WARNING · step_mass_balance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71800" y="5623560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Input 'Handle without screws' weighs 142; outputs plus continuation weigh 152 (7.0% difference).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71800" y="5925312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steps[13]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Air fryer Philips HD9252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3 / 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PREPARATION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Tools and safety notices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Aggregated from step-level and atomic-action metadata.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37360"/>
            <a:ext cx="5349240" cy="4434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11680"/>
            <a:ext cx="3017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9A7A0"/>
                </a:solidFill>
                <a:latin typeface="Aptos"/>
              </a:rPr>
              <a:t>TOOLS REQUIRED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423160"/>
            <a:ext cx="4617720" cy="33375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• No tools are specified in this model.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5349240" cy="4434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011680"/>
            <a:ext cx="3017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59E0B"/>
                </a:solidFill>
                <a:latin typeface="Aptos"/>
              </a:rPr>
              <a:t>SAFETY NOTICES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423160"/>
            <a:ext cx="4617720" cy="33375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• No safety notices are specified in this model.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Air fryer Philips HD9252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4 / 23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BILL OF MATERIALS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Recovered components — page 1 of 2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572768"/>
          <a:ext cx="10789919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3749039"/>
                <a:gridCol w="1051560"/>
                <a:gridCol w="1234440"/>
                <a:gridCol w="960120"/>
                <a:gridCol w="1508760"/>
                <a:gridCol w="1645920"/>
              </a:tblGrid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ID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Component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Weight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Material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Color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Quality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Destination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2327511009360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Plastic cover (8 hooks)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120 g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2327511018832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4 Angular screw (12.4 mm)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8 g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8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2327511015248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2 Transformer screws (39.5 mm)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10 g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2327511007568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Transformer top piece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40 g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8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2327528055824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Cables (brown and white)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20 g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6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10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2327511013008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Transformer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600 g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8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2327415634064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Inferior body without transformer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1992 g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2327511020560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Rear panel board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30 g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2327415619728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Top without motherboard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170 g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Air fryer Philips HD9252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5 / 23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BILL OF MATERIALS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Recovered components — page 2 of 2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572768"/>
          <a:ext cx="10789919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3749039"/>
                <a:gridCol w="1051560"/>
                <a:gridCol w="1234440"/>
                <a:gridCol w="960120"/>
                <a:gridCol w="1508760"/>
                <a:gridCol w="1645920"/>
              </a:tblGrid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ID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Component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Weight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Material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Color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Quality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Destination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2327511014992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Motherboard Touch Screen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50 g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2327511061072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2 Top Screws (14.8 mm)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4 g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8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2327511014800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Tray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100 g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2327511008464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4 Frontal Screws (14.8 mm)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8 g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8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2327511009232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Rear panel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25 g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2327511016336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Spring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10 g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8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2327511011216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Front of the latch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10 g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2327511010640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Latch Button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10 g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8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2327528033168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Handle without latch and button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97 g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Air fryer Philips HD9252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6 / 23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ACTION GROUP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remove the tray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ptos"/>
              </a:rPr>
              <a:t>Source: Air fryer Philips HD9252 (4500 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remove the tray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2194560"/>
            <a:ext cx="393192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2395728"/>
            <a:ext cx="1371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2697480"/>
            <a:ext cx="3474720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• No separate output component encoded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402336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CONTINUES 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4242816"/>
            <a:ext cx="3474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• Body HD9252 (3000 g)
• Basket (400 g)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480060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TOOLS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5010912"/>
            <a:ext cx="34747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No tools specified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Air fryer Philips HD9252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7 / 23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ACTION GROUP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remove the cover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ptos"/>
              </a:rPr>
              <a:t>Source: Body HD9252 (3000 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Insert a nylon spudger underneath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33756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355848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319272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Leverage the tool and pop off each of the eight tabs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5240" y="2194560"/>
            <a:ext cx="393192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2395728"/>
            <a:ext cx="1371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2697480"/>
            <a:ext cx="3474720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• Plastic cover (8 hooks) (120 g)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402336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CONTINUES 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4242816"/>
            <a:ext cx="3474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• Body without cover (2880 g)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480060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TOOLS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5010912"/>
            <a:ext cx="34747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No tools specified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5843016"/>
            <a:ext cx="34747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Material: 1 · Color: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Air fryer Philips HD9252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8 / 23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ACTION GROUP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unscrew(JIS #1)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ptos"/>
              </a:rPr>
              <a:t>Source: Body without cover (2880 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unscrew(JIS #1)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2194560"/>
            <a:ext cx="393192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2395728"/>
            <a:ext cx="1371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2697480"/>
            <a:ext cx="3474720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• 4 Angular screw (12.4 mm) (8 g)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402336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CONTINUES 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4242816"/>
            <a:ext cx="3474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• Body without cover (2872 g)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480060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TOOLS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5010912"/>
            <a:ext cx="34747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No tools specified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5843016"/>
            <a:ext cx="34747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Material: 2 · Color: 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Air fryer Philips HD9252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9 / 23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ACTION GROUP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lift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ptos"/>
              </a:rPr>
              <a:t>Source: Body without cover (2872 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lift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2194560"/>
            <a:ext cx="393192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2395728"/>
            <a:ext cx="1371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2697480"/>
            <a:ext cx="3474720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• No separate output component encoded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402336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CONTINUES 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4242816"/>
            <a:ext cx="3474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• Inferior body (2622 g)
• Top (250 g)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480060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TOOLS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5010912"/>
            <a:ext cx="34747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No tools specified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Air fryer Philips HD9252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10 / 23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ACTION GROUP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unscrew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ptos"/>
              </a:rPr>
              <a:t>Source: Inferior body (2622 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unscrew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2194560"/>
            <a:ext cx="393192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2395728"/>
            <a:ext cx="1371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2697480"/>
            <a:ext cx="3474720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• 2 Transformer screws (39.5 mm) (10 g)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402336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CONTINUES 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4242816"/>
            <a:ext cx="3474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• Inferior body unscrewed (2612 g)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480060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TOOLS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5010912"/>
            <a:ext cx="34747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No tools specified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5843016"/>
            <a:ext cx="34747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Material: 2 · Color: 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Air fryer Philips HD9252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11 / 23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ACTION GROUP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remove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ptos"/>
              </a:rPr>
              <a:t>Source: Inferior body unscrewed (2612 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remove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2194560"/>
            <a:ext cx="393192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2395728"/>
            <a:ext cx="1371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2697480"/>
            <a:ext cx="3474720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• Transformer top piece (40 g)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402336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CONTINUES 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4242816"/>
            <a:ext cx="3474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• Inferior body without top piece (2612 g)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480060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TOOLS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5010912"/>
            <a:ext cx="34747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No tools specified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5843016"/>
            <a:ext cx="34747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Material: 2 · Color: 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Air fryer Philips HD9252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12 / 23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ACTION GROUP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remove cables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ptos"/>
              </a:rPr>
              <a:t>Source: Inferior body without top piece (2612 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Remove the brown and white wire attached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33756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355848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319272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Disconnect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5240" y="2194560"/>
            <a:ext cx="393192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2395728"/>
            <a:ext cx="1371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2697480"/>
            <a:ext cx="3474720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• Cables (brown and white) (20 g)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402336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CONTINUES 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4242816"/>
            <a:ext cx="3474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• Inferior body without cables (2592 g)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480060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TOOLS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5010912"/>
            <a:ext cx="34747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No tools specified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5843016"/>
            <a:ext cx="34747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Material: 6 · Color: 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Air fryer Philips HD9252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13 / 23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ACTION GROUP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extract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ptos"/>
              </a:rPr>
              <a:t>Source: Inferior body without cables (2592 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extract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2194560"/>
            <a:ext cx="393192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2395728"/>
            <a:ext cx="1371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2697480"/>
            <a:ext cx="3474720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• Transformer (600 g)
• Inferior body without transformer (1992 g)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402336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CONTINUES 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4242816"/>
            <a:ext cx="3474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End of this branch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480060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TOOLS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5010912"/>
            <a:ext cx="34747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No tools specified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5843016"/>
            <a:ext cx="34747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Material: 2 · Color: 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Air fryer Philips HD9252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14 / 23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ACTION GROUP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remove the panel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ptos"/>
              </a:rPr>
              <a:t>Source: Top (250 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Insert a nylon spudger underneath the top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33756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355848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319272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Leverage the tool and pop off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5240" y="2194560"/>
            <a:ext cx="393192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2395728"/>
            <a:ext cx="1371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2697480"/>
            <a:ext cx="3474720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• Rear panel board (30 g)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402336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CONTINUES 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4242816"/>
            <a:ext cx="3474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• Top without panel (220 g)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480060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TOOLS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5010912"/>
            <a:ext cx="34747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No tools specified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5843016"/>
            <a:ext cx="34747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Material: 1 · Color: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Air fryer Philips HD9252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15 / 23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ACTION GROUP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remove the motherboard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ptos"/>
              </a:rPr>
              <a:t>Source: Top without panel (220 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remove the motherboard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2194560"/>
            <a:ext cx="393192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2395728"/>
            <a:ext cx="1371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2697480"/>
            <a:ext cx="3474720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• Top without motherboard (170 g)
• Motherboard Touch Screen (50 g)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402336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CONTINUES 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4242816"/>
            <a:ext cx="3474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End of this branch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480060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TOOLS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5010912"/>
            <a:ext cx="34747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No tools specified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5843016"/>
            <a:ext cx="34747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Material: 1 · Color: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Air fryer Philips HD9252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16 / 23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ACTION GROUP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pull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ptos"/>
              </a:rPr>
              <a:t>Source: Basket (400 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pull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2194560"/>
            <a:ext cx="393192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2395728"/>
            <a:ext cx="1371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2697480"/>
            <a:ext cx="3474720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• No separate output component encoded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402336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CONTINUES 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4242816"/>
            <a:ext cx="3474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• Tray with handle (250 g)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480060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TOOLS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5010912"/>
            <a:ext cx="34747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No tools specified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Air fryer Philips HD9252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17 / 23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ACTION GROUP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unscrew 4 scres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ptos"/>
              </a:rPr>
              <a:t>Source: Tray with handle (250 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unscrew 4 scres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2194560"/>
            <a:ext cx="393192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2395728"/>
            <a:ext cx="1371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2697480"/>
            <a:ext cx="3474720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• 2 Top Screws (14.8 mm) (4 g)
• Tray (100 g)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402336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CONTINUES 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4242816"/>
            <a:ext cx="3474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• Handle (150 g)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480060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TOOLS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5010912"/>
            <a:ext cx="34747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No tools specified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5843016"/>
            <a:ext cx="34747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Material: 2 · Color: 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Air fryer Philips HD9252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18 / 23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ACTION GROUP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unscrew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ptos"/>
              </a:rPr>
              <a:t>Source: Handle (150 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unscrew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2194560"/>
            <a:ext cx="393192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2395728"/>
            <a:ext cx="1371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2697480"/>
            <a:ext cx="3474720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• 4 Frontal Screws (14.8 mm) (8 g)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402336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CONTINUES 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4242816"/>
            <a:ext cx="3474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• Handle without screws (142 g)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480060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TOOLS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5010912"/>
            <a:ext cx="34747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No tools specified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5843016"/>
            <a:ext cx="34747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Material: 2 · Color: 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Air fryer Philips HD9252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19 / 23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ACTION GROUP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pry 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ptos"/>
              </a:rPr>
              <a:t>Source: Handle without screws (142 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pry out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2194560"/>
            <a:ext cx="393192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2395728"/>
            <a:ext cx="1371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2697480"/>
            <a:ext cx="3474720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• Rear panel (25 g)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402336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CONTINUES 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4242816"/>
            <a:ext cx="3474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• Handle without panel (127 g)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480060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TOOLS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5010912"/>
            <a:ext cx="34747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No tools specified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5843016"/>
            <a:ext cx="34747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Material: 1 · Color: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Air fryer Philips HD9252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20 / 23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ACTION GROUP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remove the pring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ptos"/>
              </a:rPr>
              <a:t>Source: Handle without panel (127 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push the spring down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33756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355848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319272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slide the spring out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5240" y="2194560"/>
            <a:ext cx="393192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2395728"/>
            <a:ext cx="1371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2697480"/>
            <a:ext cx="3474720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• Spring (10 g)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402336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CONTINUES 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4242816"/>
            <a:ext cx="3474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• Handle without spring (117 g)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480060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TOOLS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5010912"/>
            <a:ext cx="34747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No tools specified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5843016"/>
            <a:ext cx="34747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Material: 1 · Color: 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Air fryer Philips HD9252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21 / 23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ACTION GROUP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remove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ptos"/>
              </a:rPr>
              <a:t>Source: Handle without spring (117 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remove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2194560"/>
            <a:ext cx="393192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2395728"/>
            <a:ext cx="1371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2697480"/>
            <a:ext cx="3474720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• Front of the latch (10 g)
• Latch Button (10 g)
• Handle without latch and button (97 g)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402336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CONTINUES 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4242816"/>
            <a:ext cx="3474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End of this branch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480060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TOOLS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5010912"/>
            <a:ext cx="34747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No tools specified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5843016"/>
            <a:ext cx="34747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Material: 1 · Color: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Air fryer Philips HD9252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22 / 23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234440"/>
            <a:ext cx="475488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9A7A0"/>
                </a:solidFill>
                <a:latin typeface="Aptos"/>
              </a:rPr>
              <a:t>EXPORT COMPLETE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28800"/>
            <a:ext cx="9601200" cy="7772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Aptos"/>
              </a:rPr>
              <a:t>16 action groups prepared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971800"/>
            <a:ext cx="9692640" cy="9144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The PowerPoint remains fully editable: text, tables, images and component information can be revised after export.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4800600"/>
            <a:ext cx="4937760" cy="777240"/>
          </a:xfrm>
          <a:prstGeom prst="roundRect">
            <a:avLst>
              <a:gd name="adj" fmla="val 8000"/>
            </a:avLst>
          </a:prstGeom>
          <a:solidFill>
            <a:srgbClr val="1E3450"/>
          </a:solidFill>
          <a:ln>
            <a:solidFill>
              <a:srgbClr val="1E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5029200"/>
            <a:ext cx="44805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9A7A0"/>
                </a:solidFill>
                <a:latin typeface="Aptos"/>
              </a:rPr>
              <a:t>Air fryer Philips HD9252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Air fryer Philips HD9252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23 / 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