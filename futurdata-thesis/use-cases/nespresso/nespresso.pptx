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39712"/>
          </a:xfrm>
          <a:prstGeom prst="rect">
            <a:avLst/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4572000" cy="320040"/>
          </a:xfrm>
          <a:prstGeom prst="rect">
            <a:avLst/>
          </a:prstGeom>
          <a:noFill/>
        </p:spPr>
        <p:txBody>
          <a:bodyPr wrap="square" lIns="12801" rIns="12801" tIns="12801" bIns="1280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rial"/>
              </a:rPr>
              <a:t>FUTURDATA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8580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Disassembly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685800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Nespresso Essenza 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6858000" cy="548640"/>
          </a:xfrm>
          <a:prstGeom prst="rect">
            <a:avLst/>
          </a:prstGeom>
          <a:noFill/>
        </p:spPr>
        <p:txBody>
          <a:bodyPr wrap="square" lIns="21945" rIns="21945" tIns="21945" bIns="2194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C7D4E3"/>
                </a:solidFill>
                <a:latin typeface="Arial"/>
              </a:rPr>
              <a:t>PPTX export • 10 action group(s) • depth: DepthMode.FULL • schema 1.1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9204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02352"/>
            <a:ext cx="2971800" cy="274320"/>
          </a:xfrm>
          <a:prstGeom prst="rect">
            <a:avLst/>
          </a:prstGeom>
          <a:noFill/>
        </p:spPr>
        <p:txBody>
          <a:bodyPr wrap="square" lIns="10972" rIns="10972" tIns="10972" bIns="1097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Nominal weight  2300 g</a:t>
            </a:r>
          </a:p>
        </p:txBody>
      </p:sp>
      <p:pic>
        <p:nvPicPr>
          <p:cNvPr id="9" name="Picture 8" descr="component_01d7c0a4bcb94396a6c5bd553a81e78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2412945"/>
            <a:ext cx="3383280" cy="21235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 / 38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Export scope and model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975104"/>
            <a:ext cx="21031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PRODUCT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286000"/>
            <a:ext cx="21031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rial"/>
              </a:rPr>
              <a:t>1720555521040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75104"/>
            <a:ext cx="21031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ACTION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1031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300" b="1">
                <a:solidFill>
                  <a:srgbClr val="14213D"/>
                </a:solidFill>
                <a:latin typeface="Arial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975104"/>
            <a:ext cx="21031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BOM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286000"/>
            <a:ext cx="21031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300" b="1">
                <a:solidFill>
                  <a:srgbClr val="14213D"/>
                </a:solidFill>
                <a:latin typeface="Arial"/>
              </a:rPr>
              <a:t>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4584" y="1975104"/>
            <a:ext cx="21031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VALIDATION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4" y="2286000"/>
            <a:ext cx="21031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300" b="1">
                <a:solidFill>
                  <a:srgbClr val="14213D"/>
                </a:solidFill>
                <a:latin typeface="Arial"/>
              </a:rPr>
              <a:t>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46120"/>
            <a:ext cx="54406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02152"/>
            <a:ext cx="22860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PRODUCT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22191"/>
            <a:ext cx="48463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Name: Nespresso Essenza Mini
Weight: 2300 g
Material: Unknown
Color: Unknown
Depth mode: DepthMode.FULL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532180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502152"/>
            <a:ext cx="25603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EXPORT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822191"/>
            <a:ext cx="46177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• Parent operation and atomic actions stay grouped.
• Output components and remaining assembly are shown.
• Text and images remain editable in PowerPoint.
• Unknown branch sources are never guessed.
• Source JSON is opened read-only and never modified.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 / 38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Model warnings and errors —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500" b="1">
                <a:solidFill>
                  <a:srgbClr val="F59E0B"/>
                </a:solidFill>
                <a:latin typeface="Arial"/>
              </a:rPr>
              <a:t>SEVERITY.INFO · composite_single_continuation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14213D"/>
                </a:solidFill>
                <a:latin typeface="Arial"/>
              </a:rPr>
              <a:t>Component 1720555521040 feeds 3 operations [1720470105872, 1720470269392, 1720555522896]. All operations are included with this 
component as input; sibling execution order is unspecified.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node_ids=[1720555521040, 1720470105872, 1720470269392, 1720555522896]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500" b="1">
                <a:solidFill>
                  <a:srgbClr val="F59E0B"/>
                </a:solidFill>
                <a:latin typeface="Arial"/>
              </a:rPr>
              <a:t>SEVERITY.INFO · composite_single_continuation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14213D"/>
                </a:solidFill>
                <a:latin typeface="Arial"/>
              </a:rPr>
              <a:t>Component 1720555521168 feeds 2 operations [1720555521104, 1720555523216]. All operations are included with this component as input; 
sibling execution order is unspecified.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node_ids=[1720555521168, 1720555521104, 1720555523216]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500" b="1">
                <a:solidFill>
                  <a:srgbClr val="F59E0B"/>
                </a:solidFill>
                <a:latin typeface="Arial"/>
              </a:rPr>
              <a:t>SEVERITY.INFO · composite_single_continuation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14213D"/>
                </a:solidFill>
                <a:latin typeface="Arial"/>
              </a:rPr>
              <a:t>Component 1720555521552 feeds 2 operations [1720555522960, 1720555523280]. All operations are included with this component as input; 
sibling execution order is unspecified.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node_ids=[1720555521552, 1720555522960, 1720555523280]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500" b="1">
                <a:solidFill>
                  <a:srgbClr val="F59E0B"/>
                </a:solidFill>
                <a:latin typeface="Arial"/>
              </a:rPr>
              <a:t>SEVERITY.INFO · composite_single_continuation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14213D"/>
                </a:solidFill>
                <a:latin typeface="Arial"/>
              </a:rPr>
              <a:t>Component 1720555522320 feeds 2 operations [1720555521360, 1720555523024]. All operations are included with this component as input; 
sibling execution order is unspecified.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node_ids=[1720555522320, 1720555521360, 1720555523024]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SEVERITY.INFO · mass_balance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Mass balance not verifiable: 1 component(s) have no weight.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node_ids=[1720555522192]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WARNING · step_mass_balance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Input 'Nespresso Essenza Mini' weighs 2300; outputs plus continuation weigh 2120 (7.8% difference).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steps[0]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 / 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Model warnings and errors —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WARNING · step_mass_balance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Input 'Nespresso Essenza Mini' weighs 2300; outputs plus continuation weigh 80 (96.5% difference).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steps[1]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WARNING · step_mass_balance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Input 'Nespresso Essenza Mini' weighs 2300; outputs plus continuation weigh 100 (95.7% difference).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steps[2]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WARNING · step_mass_balance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Input 'Lower Engine Core' weighs 1110; outputs plus continuation weigh 310 (72.1% difference).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steps[8]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4 / 38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Tools and safety notices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Aggregated from step-level and atomic-action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0175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9A7A0"/>
                </a:solidFill>
                <a:latin typeface="Arial"/>
              </a:rPr>
              <a:t>TOOLS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• Cacciavite a croce PH1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30175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SAFETY NOTICES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• No safety notices are specified in this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5 / 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Recovered components — page 1 of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1720555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521872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Water Tank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150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1720555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521744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Capsule Bin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Plastic; Scientific: 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PC; Technical: PC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1720555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521296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Drip Tray &amp; Grid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100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Plastic; Scientific: 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PC; Technical: PC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1720555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521616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Side Panels (Left &amp; Right)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400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1720555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522064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Oval-head Security Screws (x4)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1720555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522192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Case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Plastic; Scientific: 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PC; Technical: PC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White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1720555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521424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Top Lever / Handle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150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1720555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523088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Brewing Chamber (Capsule slot)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300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1720555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522448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Thermoblock (Heater)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450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6 / 38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Recovered components — page 2 of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1177290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1177290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1720555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522640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Motherboard (PCB)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1177290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1720555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522768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Silicone Tubing &amp; Wiring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230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1177290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1720555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522512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Water Pump (19-bar)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350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7 / 38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STEP 1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Unplug the machine and remove the water tank.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Starting assembly: Nespresso Essenza Mini</a:t>
            </a:r>
          </a:p>
        </p:txBody>
      </p:sp>
      <p:pic>
        <p:nvPicPr>
          <p:cNvPr id="5" name="Picture 4" descr="component_01d7c0a4bcb94396a6c5bd553a81e78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0045"/>
            <a:ext cx="6583680" cy="41323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84708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14884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Water Tank (150 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347472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69417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Main Housing (1970 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42519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46227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8 / 38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Unplug the machine and remove the water tank.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Nespresso Essenza Mini (2300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Unplug the machine and remove the water tank.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Water Tank (150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Main Housing (1970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9 / 38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Unplug the machine and remove the water tank.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Operation and result illustrations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ponent_5143143929c74cbb8fedca84c708b8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22348"/>
            <a:ext cx="5248656" cy="34991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815584"/>
            <a:ext cx="524865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Removed part: Water Tank</a:t>
            </a:r>
          </a:p>
        </p:txBody>
      </p:sp>
      <p:pic>
        <p:nvPicPr>
          <p:cNvPr id="8" name="Picture 7" descr="component_0debe10018c24118bfad686940d0ef3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2022348"/>
            <a:ext cx="5248656" cy="34991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35624" y="5815584"/>
            <a:ext cx="524865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Remaining assembly: Main Housing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10 / 38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STEP 2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the capsule bin by hand.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Starting assembly: Nespresso Essenza Mini</a:t>
            </a:r>
          </a:p>
        </p:txBody>
      </p:sp>
      <p:pic>
        <p:nvPicPr>
          <p:cNvPr id="5" name="Picture 4" descr="component_01d7c0a4bcb94396a6c5bd553a81e78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0045"/>
            <a:ext cx="6583680" cy="41323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84708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14884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Capsule Bin (80 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347472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69417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42519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46227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5916168"/>
            <a:ext cx="34747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Material: Plastic; Scientific: PC; Technical: PC · Color: Black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11 / 38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the capsule bin by hand.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Nespresso Essenza Mini (2300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the capsule bin by hand.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Capsule Bin (80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961888"/>
            <a:ext cx="34747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Material: Plastic; Scientific: PC; Technical: PC · Color: Black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12 / 38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the capsule bin by hand.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Operation and result illustrations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ponent_0d7b6881c80643c99c91ac7d7a6c7e7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529" y="1783080"/>
            <a:ext cx="5966460" cy="3977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815584"/>
            <a:ext cx="1060704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Removed part: Capsule Bin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13 / 38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STEP 3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the drip tray by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Starting assembly: Nespresso Essenza Mini</a:t>
            </a:r>
          </a:p>
        </p:txBody>
      </p:sp>
      <p:pic>
        <p:nvPicPr>
          <p:cNvPr id="5" name="Picture 4" descr="component_01d7c0a4bcb94396a6c5bd553a81e78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0045"/>
            <a:ext cx="6583680" cy="41323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84708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14884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Drip Tray &amp; Grid (100 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347472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69417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42519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46227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5916168"/>
            <a:ext cx="34747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Material: Plastic; Scientific: PC; Technical: PC · Color: Black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14 / 38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the drip tray by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Nespresso Essenza Mini (2300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the drip tray by hand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Drip Tray &amp; Grid (100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961888"/>
            <a:ext cx="34747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Material: Plastic; Scientific: PC; Technical: PC · Color: Black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15 / 38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the drip tray by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Operation and result illustrations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ponent_294bef8429c347d4bdb7f955612dabb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529" y="1783080"/>
            <a:ext cx="5966460" cy="3977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815584"/>
            <a:ext cx="1060704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Removed part: Drip Tray &amp; 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16 / 38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STEP 4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200" b="1">
                <a:solidFill>
                  <a:srgbClr val="14213D"/>
                </a:solidFill>
                <a:latin typeface="Arial"/>
              </a:rPr>
              <a:t>Remove the 4 proprietary oval-head screws at the bottom of the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Starting assembly: Main Housing</a:t>
            </a:r>
          </a:p>
        </p:txBody>
      </p:sp>
      <p:pic>
        <p:nvPicPr>
          <p:cNvPr id="5" name="Picture 4" descr="component_0debe10018c24118bfad686940d0ef3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658368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84708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14884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Side Panels (Left &amp; Right) (400 g)
• Oval-head Security Screws (x4) (10 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347472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69417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Coffe machine without cover (Unknown)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42519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46227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Cacciavite a croce PH1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17 / 38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200" b="1">
                <a:solidFill>
                  <a:srgbClr val="14213D"/>
                </a:solidFill>
                <a:latin typeface="Arial"/>
              </a:rPr>
              <a:t>Remove the 4 proprietary oval-head screws at the bottom of the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Main Housing (1970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the 4 proprietary oval-head screws at the bottom of the 
machine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Side Panels (Left &amp; Right) (400 g)
• Oval-head Security Screws (x4) (10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Coffe machine without cover (Unknown)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Cacciavite a croce PH1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18 / 38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200" b="1">
                <a:solidFill>
                  <a:srgbClr val="14213D"/>
                </a:solidFill>
                <a:latin typeface="Arial"/>
              </a:rPr>
              <a:t>Remove the 4 proprietary oval-head screws at the bottom of the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Operation and result illustrations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tion_457cc33f56a24b0f8a47c32fa5b877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22348"/>
            <a:ext cx="5248656" cy="34991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815584"/>
            <a:ext cx="524865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Operation illustration</a:t>
            </a:r>
          </a:p>
        </p:txBody>
      </p:sp>
      <p:pic>
        <p:nvPicPr>
          <p:cNvPr id="8" name="Picture 7" descr="component_048907f2aeb34ea0a9d14d2931ceb10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159" y="1783080"/>
            <a:ext cx="4589584" cy="3977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35624" y="5815584"/>
            <a:ext cx="524865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Removed part: Side Panels (Left &amp; Right)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19 / 38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STEP 5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Pull both sides of the outer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Starting assembly: Main Housing</a:t>
            </a:r>
          </a:p>
        </p:txBody>
      </p:sp>
      <p:pic>
        <p:nvPicPr>
          <p:cNvPr id="5" name="Picture 4" descr="component_0debe10018c24118bfad686940d0ef3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658368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84708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14884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Case (Unknown)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347472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69417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Coffe machine without cover (Unknown)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42519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46227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5916168"/>
            <a:ext cx="34747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Material: Plastic; Scientific: PC; Technical: PC · Color: White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20 / 38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Pull both sides of the outer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Main Housing (1970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Pull both sides of the outer case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Case (Unknown)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Coffe machine without cover (Unknown)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961888"/>
            <a:ext cx="34747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Material: Plastic; Scientific: PC; Technical: PC · Color: White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21 / 38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Pull both sides of the outer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Operation and result illustrations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tion_38f066eb38674d09a461cce8c9d218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22348"/>
            <a:ext cx="5248656" cy="34991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815584"/>
            <a:ext cx="524865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Operation illustration</a:t>
            </a:r>
          </a:p>
        </p:txBody>
      </p:sp>
      <p:pic>
        <p:nvPicPr>
          <p:cNvPr id="8" name="Picture 7" descr="action_38f066eb38674d09a461cce8c9d218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624" y="2022348"/>
            <a:ext cx="5248656" cy="34991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35624" y="5815584"/>
            <a:ext cx="524865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Removed part: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22 / 38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STEP 6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Unscrew the top lever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Starting assembly: Coffe machine without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6583680" cy="548640"/>
          </a:xfrm>
          <a:prstGeom prst="rect">
            <a:avLst/>
          </a:prstGeom>
          <a:noFill/>
        </p:spPr>
        <p:txBody>
          <a:bodyPr wrap="square" lIns="21945" rIns="21945" tIns="21945" bIns="2194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14213D"/>
                </a:solidFill>
                <a:latin typeface="Arial"/>
              </a:rPr>
              <a:t>No image available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184708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14884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Top Lever / Handle (150 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347472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69417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Lower Engine Core (1110 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42519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46227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23 / 38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Unscrew the top lever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Coffe machine without cover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Unscrew the top lever mechanism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Top Lever / Handle (150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Lower Engine Core (1110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24 / 38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STEP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Unscrew the top lever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Operation and result illustrations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ponent_19143dacd9c641caa29877ceb1c030e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22348"/>
            <a:ext cx="5248656" cy="34991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815584"/>
            <a:ext cx="524865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Removed part: Top Lever / Handle</a:t>
            </a:r>
          </a:p>
        </p:txBody>
      </p:sp>
      <p:pic>
        <p:nvPicPr>
          <p:cNvPr id="8" name="Picture 7" descr="component_984f36499dc34bb492af31fcde8104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0256" y="1783080"/>
            <a:ext cx="2979390" cy="3977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35624" y="5815584"/>
            <a:ext cx="524865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Remaining assembly: Lower Engine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25 / 38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STEP 7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Detach the brewing chamber from the water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Starting assembly: Coffe machine without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6583680" cy="548640"/>
          </a:xfrm>
          <a:prstGeom prst="rect">
            <a:avLst/>
          </a:prstGeom>
          <a:noFill/>
        </p:spPr>
        <p:txBody>
          <a:bodyPr wrap="square" lIns="21945" rIns="21945" tIns="21945" bIns="2194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14213D"/>
                </a:solidFill>
                <a:latin typeface="Arial"/>
              </a:rPr>
              <a:t>No image available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184708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14884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Brewing Chamber (Capsule slot) (300 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347472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69417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42519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46227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26 / 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Detach the brewing chamber from the water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Coffe machine without cover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Detach the brewing chamber from the water 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Brewing Chamber (Capsule slot) (300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27 / 38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Detach the brewing chamber from the water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Operation and result illustrations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ponent_412c663462b74e558d37b7a783de405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529" y="1783080"/>
            <a:ext cx="5966460" cy="3977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815584"/>
            <a:ext cx="1060704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Removed part: Brewing Chamber (Capsule slot)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28 / 38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STEP 8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Detach the thermoblock heater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Starting assembly: Lower Engine Core</a:t>
            </a:r>
          </a:p>
        </p:txBody>
      </p:sp>
      <p:pic>
        <p:nvPicPr>
          <p:cNvPr id="5" name="Picture 4" descr="component_984f36499dc34bb492af31fcde8104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872" y="1645920"/>
            <a:ext cx="335609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84708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14884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Thermoblock (Heater) (450 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347472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69417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Machine withouy thermoblock heater (Unknown)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42519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46227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29 / 38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Detach the thermoblock heater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Lower Engine Core (1110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Detach the thermoblock heater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Thermoblock (Heater) (450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Machine withouy thermoblock heater (Unknown)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30 / 38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STEP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Detach the thermoblock heater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Operation and result illustrations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ponent_a242f79111cf407aaa8b785ae67173f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529" y="1783080"/>
            <a:ext cx="5966460" cy="3977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815584"/>
            <a:ext cx="1060704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Removed part: Thermoblock (Heater)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31 / 38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STEP 9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Unplug the wiring harness from the motherboard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Starting assembly: Lower Engine Core</a:t>
            </a:r>
          </a:p>
        </p:txBody>
      </p:sp>
      <p:pic>
        <p:nvPicPr>
          <p:cNvPr id="5" name="Picture 4" descr="component_984f36499dc34bb492af31fcde8104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872" y="1645920"/>
            <a:ext cx="335609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84708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14884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Motherboard (PCB) (80 g)
• Silicone Tubing &amp; Wiring (230 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347472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69417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42519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46227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32 / 38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Unplug the wiring harness from the motherboard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Lower Engine Core (1110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Unplug the wiring harness from the motherboard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Motherboard (PCB) (80 g)
• Silicone Tubing &amp; Wiring (230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33 / 38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STEP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Unplug the wiring harness from the motherboard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Operation and result illustrations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ponent_45aaba1c264648d5985ae00bcf92f20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22348"/>
            <a:ext cx="5248656" cy="34991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815584"/>
            <a:ext cx="524865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Removed part: Motherboard (PCB)</a:t>
            </a:r>
          </a:p>
        </p:txBody>
      </p:sp>
      <p:pic>
        <p:nvPicPr>
          <p:cNvPr id="8" name="Picture 7" descr="component_25641c49bc7b4477a046577aae20037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2022348"/>
            <a:ext cx="5248656" cy="34991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35624" y="5815584"/>
            <a:ext cx="524865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Removed part: Silicone Tubing &amp; Wiring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34 / 38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STEP 10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Pull out the water pump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Starting assembly: Machine withouy thermoblock heater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6583680" cy="548640"/>
          </a:xfrm>
          <a:prstGeom prst="rect">
            <a:avLst/>
          </a:prstGeom>
          <a:noFill/>
        </p:spPr>
        <p:txBody>
          <a:bodyPr wrap="square" lIns="21945" rIns="21945" tIns="21945" bIns="2194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14213D"/>
                </a:solidFill>
                <a:latin typeface="Arial"/>
              </a:rPr>
              <a:t>No image available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184708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14884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Water Pump (19-bar) (350 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347472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69417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42519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46227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35 / 38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Pull out the water pump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Machine withouy thermoblock heater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Pull out the water pump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Water Pump (19-bar) (350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36 / 38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STEP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Pull out the water pump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Operation and result illustrations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ponent_bf705a2200474d4db1257d5158fb59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529" y="1783080"/>
            <a:ext cx="5966460" cy="3977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815584"/>
            <a:ext cx="1060704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Removed part: Water Pump (19-bar)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37 / 38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34440"/>
            <a:ext cx="475488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rial"/>
              </a:rPr>
              <a:t>EXPORT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960120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10 action groups prepared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96926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The PowerPoint remains fully editable: text, tables, images and component information 
can be revised after export.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800600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029200"/>
            <a:ext cx="44805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9A7A0"/>
                </a:solidFill>
                <a:latin typeface="Arial"/>
              </a:rPr>
              <a:t>Nespresso Essenza Mini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Nespresso Essenza 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38 / 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