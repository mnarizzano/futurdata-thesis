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39712"/>
          </a:xfrm>
          <a:prstGeom prst="rect">
            <a:avLst/>
          </a:prstGeom>
          <a:solidFill>
            <a:srgbClr val="19A7A0"/>
          </a:solidFill>
          <a:ln>
            <a:solidFill>
              <a:srgbClr val="19A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85800"/>
            <a:ext cx="4572000" cy="320040"/>
          </a:xfrm>
          <a:prstGeom prst="rect">
            <a:avLst/>
          </a:prstGeom>
          <a:noFill/>
        </p:spPr>
        <p:txBody>
          <a:bodyPr wrap="square" lIns="12801" rIns="12801" tIns="12801" bIns="12801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19A7A0"/>
                </a:solidFill>
                <a:latin typeface="Arial"/>
              </a:rPr>
              <a:t>FUTURDATA 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6858000" cy="7315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Disassembly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6858000" cy="10515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Arial"/>
              </a:rPr>
              <a:t>Ninja Coffee Bar Single-Serve System 
CF111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83280"/>
            <a:ext cx="6858000" cy="548640"/>
          </a:xfrm>
          <a:prstGeom prst="rect">
            <a:avLst/>
          </a:prstGeom>
          <a:noFill/>
        </p:spPr>
        <p:txBody>
          <a:bodyPr wrap="square" lIns="21945" rIns="21945" tIns="21945" bIns="21945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C7D4E3"/>
                </a:solidFill>
                <a:latin typeface="Arial"/>
              </a:rPr>
              <a:t>PPTX export • 4 action group(s) • depth: DepthMode.FULL • schema 1.1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892040"/>
            <a:ext cx="3474720" cy="731520"/>
          </a:xfrm>
          <a:prstGeom prst="roundRect">
            <a:avLst>
              <a:gd name="adj" fmla="val 8000"/>
            </a:avLst>
          </a:prstGeom>
          <a:solidFill>
            <a:srgbClr val="1E3450"/>
          </a:solidFill>
          <a:ln>
            <a:solidFill>
              <a:srgbClr val="1E3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102352"/>
            <a:ext cx="2971800" cy="274320"/>
          </a:xfrm>
          <a:prstGeom prst="rect">
            <a:avLst/>
          </a:prstGeom>
          <a:noFill/>
        </p:spPr>
        <p:txBody>
          <a:bodyPr wrap="square" lIns="10972" rIns="10972" tIns="10972" bIns="10972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Nominal weight  Unknown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66760" y="1143000"/>
            <a:ext cx="2880360" cy="4434840"/>
          </a:xfrm>
          <a:prstGeom prst="roundRect">
            <a:avLst>
              <a:gd name="adj" fmla="val 8000"/>
            </a:avLst>
          </a:prstGeom>
          <a:solidFill>
            <a:srgbClr val="1E3450"/>
          </a:solidFill>
          <a:ln>
            <a:solidFill>
              <a:srgbClr val="34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32520" y="2697480"/>
            <a:ext cx="2148840" cy="9144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rm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>
                <a:solidFill>
                  <a:srgbClr val="7B92AB"/>
                </a:solidFill>
                <a:latin typeface="Arial"/>
              </a:rPr>
              <a:t>PRODUCT
IMAGE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547104"/>
            <a:ext cx="8686800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Ninja Coffee Bar Single-Serve System CF111 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35640" y="6547104"/>
            <a:ext cx="731520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rial"/>
              </a:rP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5303520" cy="256032"/>
          </a:xfrm>
          <a:prstGeom prst="rect">
            <a:avLst/>
          </a:prstGeom>
          <a:noFill/>
        </p:spPr>
        <p:txBody>
          <a:bodyPr wrap="square" lIns="10241" rIns="10241" tIns="10241" bIns="10241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rial"/>
              </a:rPr>
              <a:t>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02920"/>
          </a:xfrm>
          <a:prstGeom prst="rect">
            <a:avLst/>
          </a:prstGeom>
          <a:noFill/>
        </p:spPr>
        <p:txBody>
          <a:bodyPr wrap="square" lIns="20116" rIns="20116" tIns="20116" bIns="20116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1">
                <a:solidFill>
                  <a:srgbClr val="14213D"/>
                </a:solidFill>
                <a:latin typeface="Arial"/>
              </a:rPr>
              <a:t>Export scope and model summary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25146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1975104"/>
            <a:ext cx="210312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>
                <a:solidFill>
                  <a:srgbClr val="19A7A0"/>
                </a:solidFill>
                <a:latin typeface="Arial"/>
              </a:rPr>
              <a:t>PRODUCT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2286000"/>
            <a:ext cx="2103120" cy="411480"/>
          </a:xfrm>
          <a:prstGeom prst="rect">
            <a:avLst/>
          </a:prstGeom>
          <a:noFill/>
        </p:spPr>
        <p:txBody>
          <a:bodyPr wrap="square" lIns="16459" rIns="16459" tIns="16459" bIns="1645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000" b="1">
                <a:solidFill>
                  <a:srgbClr val="14213D"/>
                </a:solidFill>
                <a:latin typeface="Arial"/>
              </a:rPr>
              <a:t>2046966055184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10712" y="1783080"/>
            <a:ext cx="25146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1975104"/>
            <a:ext cx="210312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>
                <a:solidFill>
                  <a:srgbClr val="19A7A0"/>
                </a:solidFill>
                <a:latin typeface="Arial"/>
              </a:rPr>
              <a:t>ACTION GROUPS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2286000"/>
            <a:ext cx="2103120" cy="411480"/>
          </a:xfrm>
          <a:prstGeom prst="rect">
            <a:avLst/>
          </a:prstGeom>
          <a:noFill/>
        </p:spPr>
        <p:txBody>
          <a:bodyPr wrap="square" lIns="16459" rIns="16459" tIns="16459" bIns="1645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300" b="1">
                <a:solidFill>
                  <a:srgbClr val="14213D"/>
                </a:solidFill>
                <a:latin typeface="Arial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7064" y="1783080"/>
            <a:ext cx="25146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1975104"/>
            <a:ext cx="210312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>
                <a:solidFill>
                  <a:srgbClr val="19A7A0"/>
                </a:solidFill>
                <a:latin typeface="Arial"/>
              </a:rPr>
              <a:t>BOM COMPONENTS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2286000"/>
            <a:ext cx="2103120" cy="411480"/>
          </a:xfrm>
          <a:prstGeom prst="rect">
            <a:avLst/>
          </a:prstGeom>
          <a:noFill/>
        </p:spPr>
        <p:txBody>
          <a:bodyPr wrap="square" lIns="16459" rIns="16459" tIns="16459" bIns="1645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300" b="1">
                <a:solidFill>
                  <a:srgbClr val="14213D"/>
                </a:solidFill>
                <a:latin typeface="Arial"/>
              </a:rPr>
              <a:t>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43416" y="1783080"/>
            <a:ext cx="25146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44584" y="1975104"/>
            <a:ext cx="210312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>
                <a:solidFill>
                  <a:srgbClr val="19A7A0"/>
                </a:solidFill>
                <a:latin typeface="Arial"/>
              </a:rPr>
              <a:t>VALIDATION ISSUES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44584" y="2286000"/>
            <a:ext cx="2103120" cy="411480"/>
          </a:xfrm>
          <a:prstGeom prst="rect">
            <a:avLst/>
          </a:prstGeom>
          <a:noFill/>
        </p:spPr>
        <p:txBody>
          <a:bodyPr wrap="square" lIns="16459" rIns="16459" tIns="16459" bIns="1645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300" b="1">
                <a:solidFill>
                  <a:srgbClr val="14213D"/>
                </a:solidFill>
                <a:latin typeface="Arial"/>
              </a:rPr>
              <a:t>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246120"/>
            <a:ext cx="544068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502152"/>
            <a:ext cx="228600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rial"/>
              </a:rPr>
              <a:t>PRODUCT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822191"/>
            <a:ext cx="4846320" cy="1600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Name: Ninja Coffee Bar Single-Serve System CF111 30
Weight: Unknown
Material: Unknown
Color: Unknown
Depth mode: DepthMode.FULL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246120"/>
            <a:ext cx="5321808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3502152"/>
            <a:ext cx="256032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rial"/>
              </a:rPr>
              <a:t>EXPORT BEHAVIOUR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822191"/>
            <a:ext cx="4617720" cy="1600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• Parent operation and atomic actions stay grouped.
• Output components and remaining assembly are shown.
• Text and images remain editable in PowerPoint.
• Unknown branch sources are never guessed.
• Source JSON is opened read-only and never modified.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547104"/>
            <a:ext cx="8686800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Ninja Coffee Bar Single-Serve System CF111 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35640" y="6547104"/>
            <a:ext cx="731520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rial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5303520" cy="256032"/>
          </a:xfrm>
          <a:prstGeom prst="rect">
            <a:avLst/>
          </a:prstGeom>
          <a:noFill/>
        </p:spPr>
        <p:txBody>
          <a:bodyPr wrap="square" lIns="10241" rIns="10241" tIns="10241" bIns="10241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rial"/>
              </a:rPr>
              <a:t>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02920"/>
          </a:xfrm>
          <a:prstGeom prst="rect">
            <a:avLst/>
          </a:prstGeom>
          <a:noFill/>
        </p:spPr>
        <p:txBody>
          <a:bodyPr wrap="square" lIns="20116" rIns="20116" tIns="20116" bIns="20116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1">
                <a:solidFill>
                  <a:srgbClr val="14213D"/>
                </a:solidFill>
                <a:latin typeface="Arial"/>
              </a:rPr>
              <a:t>Model warnings and errors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88720"/>
            <a:ext cx="10972800" cy="411480"/>
          </a:xfrm>
          <a:prstGeom prst="rect">
            <a:avLst/>
          </a:prstGeom>
          <a:noFill/>
        </p:spPr>
        <p:txBody>
          <a:bodyPr wrap="square" lIns="16459" rIns="16459" tIns="16459" bIns="1645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Each issue is localized to the corresponding JSON element when possible.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83080"/>
            <a:ext cx="1097280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109728" cy="65836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92807"/>
            <a:ext cx="1920240" cy="201168"/>
          </a:xfrm>
          <a:prstGeom prst="rect">
            <a:avLst/>
          </a:prstGeom>
          <a:noFill/>
        </p:spPr>
        <p:txBody>
          <a:bodyPr wrap="square" lIns="8046" rIns="8046" tIns="8046" bIns="8046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>
                <a:solidFill>
                  <a:srgbClr val="F59E0B"/>
                </a:solidFill>
                <a:latin typeface="Arial"/>
              </a:rPr>
              <a:t>SEVERITY.INFO · mass_balance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1874519"/>
            <a:ext cx="7223760" cy="292608"/>
          </a:xfrm>
          <a:prstGeom prst="rect">
            <a:avLst/>
          </a:prstGeom>
          <a:noFill/>
        </p:spPr>
        <p:txBody>
          <a:bodyPr wrap="square" lIns="11704" rIns="11704" tIns="11704" bIns="11704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Mass balance not verifiable: the product has no weight; 5 component(s) have no weight.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1800" y="2176272"/>
            <a:ext cx="7955279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Location: node_ids=[2046884535632, 2046970958032, 2046975404944, 2046996689808, 2047096597072]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547104"/>
            <a:ext cx="8686800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Ninja Coffee Bar Single-Serve System CF111 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35640" y="6547104"/>
            <a:ext cx="731520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rial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5303520" cy="256032"/>
          </a:xfrm>
          <a:prstGeom prst="rect">
            <a:avLst/>
          </a:prstGeom>
          <a:noFill/>
        </p:spPr>
        <p:txBody>
          <a:bodyPr wrap="square" lIns="10241" rIns="10241" tIns="10241" bIns="10241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rial"/>
              </a:rPr>
              <a:t>PREPARATION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02920"/>
          </a:xfrm>
          <a:prstGeom prst="rect">
            <a:avLst/>
          </a:prstGeom>
          <a:noFill/>
        </p:spPr>
        <p:txBody>
          <a:bodyPr wrap="square" lIns="20116" rIns="20116" tIns="20116" bIns="20116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1">
                <a:solidFill>
                  <a:srgbClr val="14213D"/>
                </a:solidFill>
                <a:latin typeface="Arial"/>
              </a:rPr>
              <a:t>Tools and safety notices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88720"/>
            <a:ext cx="10972800" cy="411480"/>
          </a:xfrm>
          <a:prstGeom prst="rect">
            <a:avLst/>
          </a:prstGeom>
          <a:noFill/>
        </p:spPr>
        <p:txBody>
          <a:bodyPr wrap="square" lIns="16459" rIns="16459" tIns="16459" bIns="1645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Aggregated from step-level and atomic-action metadata.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5349240" cy="4434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80"/>
            <a:ext cx="301752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19A7A0"/>
                </a:solidFill>
                <a:latin typeface="Arial"/>
              </a:rPr>
              <a:t>TOOLS 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4617720" cy="33375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• No tools are specified in this model.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349240" cy="4434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11680"/>
            <a:ext cx="301752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SAFETY NOTICES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4617720" cy="33375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• No safety notices are specified in this model.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547104"/>
            <a:ext cx="8686800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Ninja Coffee Bar Single-Serve System CF111 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35640" y="6547104"/>
            <a:ext cx="731520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rial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5303520" cy="256032"/>
          </a:xfrm>
          <a:prstGeom prst="rect">
            <a:avLst/>
          </a:prstGeom>
          <a:noFill/>
        </p:spPr>
        <p:txBody>
          <a:bodyPr wrap="square" lIns="10241" rIns="10241" tIns="10241" bIns="10241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rial"/>
              </a:rPr>
              <a:t>BILL OF MATERIALS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02920"/>
          </a:xfrm>
          <a:prstGeom prst="rect">
            <a:avLst/>
          </a:prstGeom>
          <a:noFill/>
        </p:spPr>
        <p:txBody>
          <a:bodyPr wrap="square" lIns="20116" rIns="20116" tIns="20116" bIns="20116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1">
                <a:solidFill>
                  <a:srgbClr val="14213D"/>
                </a:solidFill>
                <a:latin typeface="Arial"/>
              </a:rPr>
              <a:t>Recovered components — page 1 of 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572768"/>
          <a:ext cx="10789919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749039"/>
                <a:gridCol w="1051560"/>
                <a:gridCol w="1234440"/>
                <a:gridCol w="960120"/>
                <a:gridCol w="1508760"/>
                <a:gridCol w="1645920"/>
              </a:tblGrid>
              <a:tr h="784860"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ID</a:t>
                      </a:r>
                    </a:p>
                  </a:txBody>
                  <a:tcPr marL="64008" marR="64008" marT="36576" marB="36576">
                    <a:solidFill>
                      <a:srgbClr val="132238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marL="64008" marR="64008" marT="36576" marB="36576">
                    <a:solidFill>
                      <a:srgbClr val="132238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Weight</a:t>
                      </a:r>
                    </a:p>
                  </a:txBody>
                  <a:tcPr marL="64008" marR="64008" marT="36576" marB="36576">
                    <a:solidFill>
                      <a:srgbClr val="132238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Material</a:t>
                      </a:r>
                    </a:p>
                  </a:txBody>
                  <a:tcPr marL="64008" marR="64008" marT="36576" marB="36576">
                    <a:solidFill>
                      <a:srgbClr val="132238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Color</a:t>
                      </a:r>
                    </a:p>
                  </a:txBody>
                  <a:tcPr marL="64008" marR="64008" marT="36576" marB="36576">
                    <a:solidFill>
                      <a:srgbClr val="132238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Quality</a:t>
                      </a:r>
                    </a:p>
                  </a:txBody>
                  <a:tcPr marL="64008" marR="64008" marT="36576" marB="36576">
                    <a:solidFill>
                      <a:srgbClr val="132238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Destination</a:t>
                      </a:r>
                    </a:p>
                  </a:txBody>
                  <a:tcPr marL="64008" marR="64008" marT="36576" marB="36576">
                    <a:solidFill>
                      <a:srgbClr val="132238"/>
                    </a:solidFill>
                  </a:tcPr>
                </a:tc>
              </a:tr>
              <a:tr h="784860"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2047096</a:t>
                      </a:r>
                    </a:p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597072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4213D"/>
                          </a:solidFill>
                          <a:latin typeface="Arial"/>
                        </a:rPr>
                        <a:t>Brew basket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784860"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2046884</a:t>
                      </a:r>
                    </a:p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535632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4213D"/>
                          </a:solidFill>
                          <a:latin typeface="Arial"/>
                        </a:rPr>
                        <a:t>Frother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</a:tr>
              <a:tr h="784860"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2046975</a:t>
                      </a:r>
                    </a:p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404944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4213D"/>
                          </a:solidFill>
                          <a:latin typeface="Arial"/>
                        </a:rPr>
                        <a:t>Heater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784860"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2046970</a:t>
                      </a:r>
                    </a:p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958032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4213D"/>
                          </a:solidFill>
                          <a:latin typeface="Arial"/>
                        </a:rPr>
                        <a:t>Power cable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</a:tr>
              <a:tr h="784860"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2046996</a:t>
                      </a:r>
                    </a:p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689808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4213D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>
                        <a:lnSpc>
                          <a:spcPct val="125000"/>
                        </a:lnSpc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6547104"/>
            <a:ext cx="8686800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Ninja Coffee Bar Single-Serve System CF111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35640" y="6547104"/>
            <a:ext cx="731520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rial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5303520" cy="256032"/>
          </a:xfrm>
          <a:prstGeom prst="rect">
            <a:avLst/>
          </a:prstGeom>
          <a:noFill/>
        </p:spPr>
        <p:txBody>
          <a:bodyPr wrap="square" lIns="10241" rIns="10241" tIns="10241" bIns="10241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rial"/>
              </a:rPr>
              <a:t>ACTION GROUP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02920"/>
          </a:xfrm>
          <a:prstGeom prst="rect">
            <a:avLst/>
          </a:prstGeom>
          <a:noFill/>
        </p:spPr>
        <p:txBody>
          <a:bodyPr wrap="square" lIns="20116" rIns="20116" tIns="20116" bIns="20116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1">
                <a:solidFill>
                  <a:srgbClr val="14213D"/>
                </a:solidFill>
                <a:latin typeface="Arial"/>
              </a:rPr>
              <a:t>Removing brew basket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88720"/>
            <a:ext cx="10972800" cy="411480"/>
          </a:xfrm>
          <a:prstGeom prst="rect">
            <a:avLst/>
          </a:prstGeom>
          <a:noFill/>
        </p:spPr>
        <p:txBody>
          <a:bodyPr wrap="square" lIns="16459" rIns="16459" tIns="16459" bIns="1645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Atomic actions are grouped under their parent disassembly operation.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54480"/>
            <a:ext cx="10972800" cy="438912"/>
          </a:xfrm>
          <a:prstGeom prst="roundRect">
            <a:avLst>
              <a:gd name="adj" fmla="val 8000"/>
            </a:avLst>
          </a:prstGeom>
          <a:solidFill>
            <a:srgbClr val="DFF5F4"/>
          </a:solidFill>
          <a:ln>
            <a:solidFill>
              <a:srgbClr val="DFF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8229600" cy="201168"/>
          </a:xfrm>
          <a:prstGeom prst="rect">
            <a:avLst/>
          </a:prstGeom>
          <a:noFill/>
        </p:spPr>
        <p:txBody>
          <a:bodyPr wrap="square" lIns="8046" rIns="8046" tIns="8046" bIns="8046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Source: Ninja Coffee Bar Single-Serve System CF111 30 (Unknown)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64040" y="1664208"/>
            <a:ext cx="1783080" cy="201168"/>
          </a:xfrm>
          <a:prstGeom prst="rect">
            <a:avLst/>
          </a:prstGeom>
          <a:noFill/>
        </p:spPr>
        <p:txBody>
          <a:bodyPr wrap="square" lIns="8046" rIns="8046" tIns="8046" bIns="8046" anchor="t">
            <a:norm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1">
                <a:solidFill>
                  <a:srgbClr val="19A7A0"/>
                </a:solidFill>
                <a:latin typeface="Arial"/>
              </a:rPr>
              <a:t>explicit source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94560"/>
            <a:ext cx="681228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50592"/>
            <a:ext cx="274320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rial"/>
              </a:rPr>
              <a:t>ATOMIC ACTIONS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816352"/>
            <a:ext cx="347472" cy="347472"/>
          </a:xfrm>
          <a:prstGeom prst="roundRect">
            <a:avLst>
              <a:gd name="adj" fmla="val 8000"/>
            </a:avLst>
          </a:prstGeom>
          <a:solidFill>
            <a:srgbClr val="19A7A0"/>
          </a:solidFill>
          <a:ln>
            <a:solidFill>
              <a:srgbClr val="19A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34640"/>
            <a:ext cx="347472" cy="256032"/>
          </a:xfrm>
          <a:prstGeom prst="rect">
            <a:avLst/>
          </a:prstGeom>
          <a:noFill/>
        </p:spPr>
        <p:txBody>
          <a:bodyPr wrap="square" lIns="10241" rIns="10241" tIns="10241" bIns="10241" anchor="ctr">
            <a:norm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2798064"/>
            <a:ext cx="5715000" cy="475488"/>
          </a:xfrm>
          <a:prstGeom prst="rect">
            <a:avLst/>
          </a:prstGeom>
          <a:noFill/>
        </p:spPr>
        <p:txBody>
          <a:bodyPr wrap="square" lIns="19019" rIns="19019" tIns="19019" bIns="1901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Slide the brew baskets to the open position.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3337560"/>
            <a:ext cx="347472" cy="347472"/>
          </a:xfrm>
          <a:prstGeom prst="roundRect">
            <a:avLst>
              <a:gd name="adj" fmla="val 8000"/>
            </a:avLst>
          </a:prstGeom>
          <a:solidFill>
            <a:srgbClr val="19A7A0"/>
          </a:solidFill>
          <a:ln>
            <a:solidFill>
              <a:srgbClr val="19A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355848"/>
            <a:ext cx="347472" cy="256032"/>
          </a:xfrm>
          <a:prstGeom prst="rect">
            <a:avLst/>
          </a:prstGeom>
          <a:noFill/>
        </p:spPr>
        <p:txBody>
          <a:bodyPr wrap="square" lIns="10241" rIns="10241" tIns="10241" bIns="10241" anchor="ctr">
            <a:norm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3312" y="3319272"/>
            <a:ext cx="5715000" cy="475488"/>
          </a:xfrm>
          <a:prstGeom prst="rect">
            <a:avLst/>
          </a:prstGeom>
          <a:noFill/>
        </p:spPr>
        <p:txBody>
          <a:bodyPr wrap="square" lIns="19019" rIns="19019" tIns="19019" bIns="1901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Remove three crews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858768"/>
            <a:ext cx="347472" cy="347472"/>
          </a:xfrm>
          <a:prstGeom prst="roundRect">
            <a:avLst>
              <a:gd name="adj" fmla="val 8000"/>
            </a:avLst>
          </a:prstGeom>
          <a:solidFill>
            <a:srgbClr val="19A7A0"/>
          </a:solidFill>
          <a:ln>
            <a:solidFill>
              <a:srgbClr val="19A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877055"/>
            <a:ext cx="347472" cy="256032"/>
          </a:xfrm>
          <a:prstGeom prst="rect">
            <a:avLst/>
          </a:prstGeom>
          <a:noFill/>
        </p:spPr>
        <p:txBody>
          <a:bodyPr wrap="square" lIns="10241" rIns="10241" tIns="10241" bIns="10241" anchor="ctr">
            <a:norm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" y="3840480"/>
            <a:ext cx="5715000" cy="475488"/>
          </a:xfrm>
          <a:prstGeom prst="rect">
            <a:avLst/>
          </a:prstGeom>
          <a:noFill/>
        </p:spPr>
        <p:txBody>
          <a:bodyPr wrap="square" lIns="19019" rIns="19019" tIns="19019" bIns="1901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push the bottom of the pin up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4379976"/>
            <a:ext cx="347472" cy="347472"/>
          </a:xfrm>
          <a:prstGeom prst="roundRect">
            <a:avLst>
              <a:gd name="adj" fmla="val 8000"/>
            </a:avLst>
          </a:prstGeom>
          <a:solidFill>
            <a:srgbClr val="19A7A0"/>
          </a:solidFill>
          <a:ln>
            <a:solidFill>
              <a:srgbClr val="19A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398264"/>
            <a:ext cx="347472" cy="256032"/>
          </a:xfrm>
          <a:prstGeom prst="rect">
            <a:avLst/>
          </a:prstGeom>
          <a:noFill/>
        </p:spPr>
        <p:txBody>
          <a:bodyPr wrap="square" lIns="10241" rIns="10241" tIns="10241" bIns="10241" anchor="ctr">
            <a:norm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53312" y="4361688"/>
            <a:ext cx="5715000" cy="475488"/>
          </a:xfrm>
          <a:prstGeom prst="rect">
            <a:avLst/>
          </a:prstGeom>
          <a:noFill/>
        </p:spPr>
        <p:txBody>
          <a:bodyPr wrap="square" lIns="19019" rIns="19019" tIns="19019" bIns="1901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Remove brew basket from swinging basket holder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35240" y="2194560"/>
            <a:ext cx="393192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0" y="2395728"/>
            <a:ext cx="1371600" cy="201168"/>
          </a:xfrm>
          <a:prstGeom prst="rect">
            <a:avLst/>
          </a:prstGeom>
          <a:noFill/>
        </p:spPr>
        <p:txBody>
          <a:bodyPr wrap="square" lIns="8046" rIns="8046" tIns="8046" bIns="8046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rial"/>
              </a:rPr>
              <a:t>RESULT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2697480"/>
            <a:ext cx="3474720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• Brew basket (Unknown)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4023360"/>
            <a:ext cx="3474720" cy="182880"/>
          </a:xfrm>
          <a:prstGeom prst="rect">
            <a:avLst/>
          </a:prstGeom>
          <a:noFill/>
        </p:spPr>
        <p:txBody>
          <a:bodyPr wrap="square" lIns="7315" rIns="7315" tIns="7315" bIns="7315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>
                <a:solidFill>
                  <a:srgbClr val="19A7A0"/>
                </a:solidFill>
                <a:latin typeface="Arial"/>
              </a:rPr>
              <a:t>CONTINUES 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4242816"/>
            <a:ext cx="3474720" cy="384048"/>
          </a:xfrm>
          <a:prstGeom prst="rect">
            <a:avLst/>
          </a:prstGeom>
          <a:noFill/>
        </p:spPr>
        <p:txBody>
          <a:bodyPr wrap="square" lIns="15361" rIns="15361" tIns="15361" bIns="15361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14213D"/>
                </a:solidFill>
                <a:latin typeface="Arial"/>
              </a:rPr>
              <a:t>• Component (Unknown)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4800600"/>
            <a:ext cx="3474720" cy="182880"/>
          </a:xfrm>
          <a:prstGeom prst="rect">
            <a:avLst/>
          </a:prstGeom>
          <a:noFill/>
        </p:spPr>
        <p:txBody>
          <a:bodyPr wrap="square" lIns="7315" rIns="7315" tIns="7315" bIns="7315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>
                <a:solidFill>
                  <a:srgbClr val="19A7A0"/>
                </a:solidFill>
                <a:latin typeface="Arial"/>
              </a:rPr>
              <a:t>TOOLS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5010912"/>
            <a:ext cx="3474720" cy="411480"/>
          </a:xfrm>
          <a:prstGeom prst="rect">
            <a:avLst/>
          </a:prstGeom>
          <a:noFill/>
        </p:spPr>
        <p:txBody>
          <a:bodyPr wrap="square" lIns="16459" rIns="16459" tIns="16459" bIns="1645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14213D"/>
                </a:solidFill>
                <a:latin typeface="Arial"/>
              </a:rPr>
              <a:t>No tools specified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547104"/>
            <a:ext cx="8686800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Ninja Coffee Bar Single-Serve System CF111 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35640" y="6547104"/>
            <a:ext cx="731520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rial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5303520" cy="256032"/>
          </a:xfrm>
          <a:prstGeom prst="rect">
            <a:avLst/>
          </a:prstGeom>
          <a:noFill/>
        </p:spPr>
        <p:txBody>
          <a:bodyPr wrap="square" lIns="10241" rIns="10241" tIns="10241" bIns="10241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rial"/>
              </a:rPr>
              <a:t>ACTION GROUP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02920"/>
          </a:xfrm>
          <a:prstGeom prst="rect">
            <a:avLst/>
          </a:prstGeom>
          <a:noFill/>
        </p:spPr>
        <p:txBody>
          <a:bodyPr wrap="square" lIns="20116" rIns="20116" tIns="20116" bIns="20116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1">
                <a:solidFill>
                  <a:srgbClr val="14213D"/>
                </a:solidFill>
                <a:latin typeface="Arial"/>
              </a:rPr>
              <a:t>Remove frother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88720"/>
            <a:ext cx="10972800" cy="411480"/>
          </a:xfrm>
          <a:prstGeom prst="rect">
            <a:avLst/>
          </a:prstGeom>
          <a:noFill/>
        </p:spPr>
        <p:txBody>
          <a:bodyPr wrap="square" lIns="16459" rIns="16459" tIns="16459" bIns="1645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Atomic actions are grouped under their parent disassembly operation.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54480"/>
            <a:ext cx="10972800" cy="438912"/>
          </a:xfrm>
          <a:prstGeom prst="roundRect">
            <a:avLst>
              <a:gd name="adj" fmla="val 8000"/>
            </a:avLst>
          </a:prstGeom>
          <a:solidFill>
            <a:srgbClr val="DFF5F4"/>
          </a:solidFill>
          <a:ln>
            <a:solidFill>
              <a:srgbClr val="DFF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8229600" cy="201168"/>
          </a:xfrm>
          <a:prstGeom prst="rect">
            <a:avLst/>
          </a:prstGeom>
          <a:noFill/>
        </p:spPr>
        <p:txBody>
          <a:bodyPr wrap="square" lIns="8046" rIns="8046" tIns="8046" bIns="8046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Source: Component (Unknown)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64040" y="1664208"/>
            <a:ext cx="1783080" cy="201168"/>
          </a:xfrm>
          <a:prstGeom prst="rect">
            <a:avLst/>
          </a:prstGeom>
          <a:noFill/>
        </p:spPr>
        <p:txBody>
          <a:bodyPr wrap="square" lIns="8046" rIns="8046" tIns="8046" bIns="8046" anchor="t">
            <a:norm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1">
                <a:solidFill>
                  <a:srgbClr val="19A7A0"/>
                </a:solidFill>
                <a:latin typeface="Arial"/>
              </a:rPr>
              <a:t>explicit source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94560"/>
            <a:ext cx="681228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50592"/>
            <a:ext cx="274320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rial"/>
              </a:rPr>
              <a:t>ATOMIC ACTIONS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816352"/>
            <a:ext cx="347472" cy="347472"/>
          </a:xfrm>
          <a:prstGeom prst="roundRect">
            <a:avLst>
              <a:gd name="adj" fmla="val 8000"/>
            </a:avLst>
          </a:prstGeom>
          <a:solidFill>
            <a:srgbClr val="19A7A0"/>
          </a:solidFill>
          <a:ln>
            <a:solidFill>
              <a:srgbClr val="19A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34640"/>
            <a:ext cx="347472" cy="256032"/>
          </a:xfrm>
          <a:prstGeom prst="rect">
            <a:avLst/>
          </a:prstGeom>
          <a:noFill/>
        </p:spPr>
        <p:txBody>
          <a:bodyPr wrap="square" lIns="10241" rIns="10241" tIns="10241" bIns="10241" anchor="ctr">
            <a:norm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2798064"/>
            <a:ext cx="5715000" cy="475488"/>
          </a:xfrm>
          <a:prstGeom prst="rect">
            <a:avLst/>
          </a:prstGeom>
          <a:noFill/>
        </p:spPr>
        <p:txBody>
          <a:bodyPr wrap="square" lIns="19019" rIns="19019" tIns="19019" bIns="1901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Remove four screws from under the basket area.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3337560"/>
            <a:ext cx="347472" cy="347472"/>
          </a:xfrm>
          <a:prstGeom prst="roundRect">
            <a:avLst>
              <a:gd name="adj" fmla="val 8000"/>
            </a:avLst>
          </a:prstGeom>
          <a:solidFill>
            <a:srgbClr val="19A7A0"/>
          </a:solidFill>
          <a:ln>
            <a:solidFill>
              <a:srgbClr val="19A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355848"/>
            <a:ext cx="347472" cy="256032"/>
          </a:xfrm>
          <a:prstGeom prst="rect">
            <a:avLst/>
          </a:prstGeom>
          <a:noFill/>
        </p:spPr>
        <p:txBody>
          <a:bodyPr wrap="square" lIns="10241" rIns="10241" tIns="10241" bIns="10241" anchor="ctr">
            <a:norm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3312" y="3319272"/>
            <a:ext cx="5715000" cy="475488"/>
          </a:xfrm>
          <a:prstGeom prst="rect">
            <a:avLst/>
          </a:prstGeom>
          <a:noFill/>
        </p:spPr>
        <p:txBody>
          <a:bodyPr wrap="square" lIns="19019" rIns="19019" tIns="19019" bIns="1901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pry the upper cover off the unit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858768"/>
            <a:ext cx="347472" cy="347472"/>
          </a:xfrm>
          <a:prstGeom prst="roundRect">
            <a:avLst>
              <a:gd name="adj" fmla="val 8000"/>
            </a:avLst>
          </a:prstGeom>
          <a:solidFill>
            <a:srgbClr val="19A7A0"/>
          </a:solidFill>
          <a:ln>
            <a:solidFill>
              <a:srgbClr val="19A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877055"/>
            <a:ext cx="347472" cy="256032"/>
          </a:xfrm>
          <a:prstGeom prst="rect">
            <a:avLst/>
          </a:prstGeom>
          <a:noFill/>
        </p:spPr>
        <p:txBody>
          <a:bodyPr wrap="square" lIns="10241" rIns="10241" tIns="10241" bIns="10241" anchor="ctr">
            <a:norm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" y="3840480"/>
            <a:ext cx="5715000" cy="475488"/>
          </a:xfrm>
          <a:prstGeom prst="rect">
            <a:avLst/>
          </a:prstGeom>
          <a:noFill/>
        </p:spPr>
        <p:txBody>
          <a:bodyPr wrap="square" lIns="19019" rIns="19019" tIns="19019" bIns="1901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Remove one screw from the top of the unit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4379976"/>
            <a:ext cx="347472" cy="347472"/>
          </a:xfrm>
          <a:prstGeom prst="roundRect">
            <a:avLst>
              <a:gd name="adj" fmla="val 8000"/>
            </a:avLst>
          </a:prstGeom>
          <a:solidFill>
            <a:srgbClr val="19A7A0"/>
          </a:solidFill>
          <a:ln>
            <a:solidFill>
              <a:srgbClr val="19A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398264"/>
            <a:ext cx="347472" cy="256032"/>
          </a:xfrm>
          <a:prstGeom prst="rect">
            <a:avLst/>
          </a:prstGeom>
          <a:noFill/>
        </p:spPr>
        <p:txBody>
          <a:bodyPr wrap="square" lIns="10241" rIns="10241" tIns="10241" bIns="10241" anchor="ctr">
            <a:norm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53312" y="4361688"/>
            <a:ext cx="5715000" cy="475488"/>
          </a:xfrm>
          <a:prstGeom prst="rect">
            <a:avLst/>
          </a:prstGeom>
          <a:noFill/>
        </p:spPr>
        <p:txBody>
          <a:bodyPr wrap="square" lIns="19019" rIns="19019" tIns="19019" bIns="1901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Pull motor straight up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35240" y="2194560"/>
            <a:ext cx="393192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0" y="2395728"/>
            <a:ext cx="1371600" cy="201168"/>
          </a:xfrm>
          <a:prstGeom prst="rect">
            <a:avLst/>
          </a:prstGeom>
          <a:noFill/>
        </p:spPr>
        <p:txBody>
          <a:bodyPr wrap="square" lIns="8046" rIns="8046" tIns="8046" bIns="8046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rial"/>
              </a:rPr>
              <a:t>RESULT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2697480"/>
            <a:ext cx="3474720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• Frother (Unknown)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4023360"/>
            <a:ext cx="3474720" cy="182880"/>
          </a:xfrm>
          <a:prstGeom prst="rect">
            <a:avLst/>
          </a:prstGeom>
          <a:noFill/>
        </p:spPr>
        <p:txBody>
          <a:bodyPr wrap="square" lIns="7315" rIns="7315" tIns="7315" bIns="7315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>
                <a:solidFill>
                  <a:srgbClr val="19A7A0"/>
                </a:solidFill>
                <a:latin typeface="Arial"/>
              </a:rPr>
              <a:t>CONTINUES 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4242816"/>
            <a:ext cx="3474720" cy="384048"/>
          </a:xfrm>
          <a:prstGeom prst="rect">
            <a:avLst/>
          </a:prstGeom>
          <a:noFill/>
        </p:spPr>
        <p:txBody>
          <a:bodyPr wrap="square" lIns="15361" rIns="15361" tIns="15361" bIns="15361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14213D"/>
                </a:solidFill>
                <a:latin typeface="Arial"/>
              </a:rPr>
              <a:t>• Component (Unknown)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4800600"/>
            <a:ext cx="3474720" cy="182880"/>
          </a:xfrm>
          <a:prstGeom prst="rect">
            <a:avLst/>
          </a:prstGeom>
          <a:noFill/>
        </p:spPr>
        <p:txBody>
          <a:bodyPr wrap="square" lIns="7315" rIns="7315" tIns="7315" bIns="7315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>
                <a:solidFill>
                  <a:srgbClr val="19A7A0"/>
                </a:solidFill>
                <a:latin typeface="Arial"/>
              </a:rPr>
              <a:t>TOOLS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5010912"/>
            <a:ext cx="3474720" cy="411480"/>
          </a:xfrm>
          <a:prstGeom prst="rect">
            <a:avLst/>
          </a:prstGeom>
          <a:noFill/>
        </p:spPr>
        <p:txBody>
          <a:bodyPr wrap="square" lIns="16459" rIns="16459" tIns="16459" bIns="1645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14213D"/>
                </a:solidFill>
                <a:latin typeface="Arial"/>
              </a:rPr>
              <a:t>No tools specified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547104"/>
            <a:ext cx="8686800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Ninja Coffee Bar Single-Serve System CF111 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35640" y="6547104"/>
            <a:ext cx="731520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rial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5303520" cy="256032"/>
          </a:xfrm>
          <a:prstGeom prst="rect">
            <a:avLst/>
          </a:prstGeom>
          <a:noFill/>
        </p:spPr>
        <p:txBody>
          <a:bodyPr wrap="square" lIns="10241" rIns="10241" tIns="10241" bIns="10241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rial"/>
              </a:rPr>
              <a:t>ACTION GROUP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02920"/>
          </a:xfrm>
          <a:prstGeom prst="rect">
            <a:avLst/>
          </a:prstGeom>
          <a:noFill/>
        </p:spPr>
        <p:txBody>
          <a:bodyPr wrap="square" lIns="20116" rIns="20116" tIns="20116" bIns="20116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1">
                <a:solidFill>
                  <a:srgbClr val="14213D"/>
                </a:solidFill>
                <a:latin typeface="Arial"/>
              </a:rPr>
              <a:t>Remove Heater · part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88720"/>
            <a:ext cx="10972800" cy="411480"/>
          </a:xfrm>
          <a:prstGeom prst="rect">
            <a:avLst/>
          </a:prstGeom>
          <a:noFill/>
        </p:spPr>
        <p:txBody>
          <a:bodyPr wrap="square" lIns="16459" rIns="16459" tIns="16459" bIns="1645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Atomic actions are grouped under their parent disassembly operation.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54480"/>
            <a:ext cx="10972800" cy="438912"/>
          </a:xfrm>
          <a:prstGeom prst="roundRect">
            <a:avLst>
              <a:gd name="adj" fmla="val 8000"/>
            </a:avLst>
          </a:prstGeom>
          <a:solidFill>
            <a:srgbClr val="DFF5F4"/>
          </a:solidFill>
          <a:ln>
            <a:solidFill>
              <a:srgbClr val="DFF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8229600" cy="201168"/>
          </a:xfrm>
          <a:prstGeom prst="rect">
            <a:avLst/>
          </a:prstGeom>
          <a:noFill/>
        </p:spPr>
        <p:txBody>
          <a:bodyPr wrap="square" lIns="8046" rIns="8046" tIns="8046" bIns="8046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Source: Component (Unknown)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64040" y="1664208"/>
            <a:ext cx="1783080" cy="201168"/>
          </a:xfrm>
          <a:prstGeom prst="rect">
            <a:avLst/>
          </a:prstGeom>
          <a:noFill/>
        </p:spPr>
        <p:txBody>
          <a:bodyPr wrap="square" lIns="8046" rIns="8046" tIns="8046" bIns="8046" anchor="t">
            <a:norm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1">
                <a:solidFill>
                  <a:srgbClr val="19A7A0"/>
                </a:solidFill>
                <a:latin typeface="Arial"/>
              </a:rPr>
              <a:t>explicit source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94560"/>
            <a:ext cx="681228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50592"/>
            <a:ext cx="274320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rial"/>
              </a:rPr>
              <a:t>ATOMIC ACTIONS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816352"/>
            <a:ext cx="347472" cy="347472"/>
          </a:xfrm>
          <a:prstGeom prst="roundRect">
            <a:avLst>
              <a:gd name="adj" fmla="val 8000"/>
            </a:avLst>
          </a:prstGeom>
          <a:solidFill>
            <a:srgbClr val="19A7A0"/>
          </a:solidFill>
          <a:ln>
            <a:solidFill>
              <a:srgbClr val="19A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34640"/>
            <a:ext cx="347472" cy="256032"/>
          </a:xfrm>
          <a:prstGeom prst="rect">
            <a:avLst/>
          </a:prstGeom>
          <a:noFill/>
        </p:spPr>
        <p:txBody>
          <a:bodyPr wrap="square" lIns="10241" rIns="10241" tIns="10241" bIns="10241" anchor="ctr">
            <a:norm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2798064"/>
            <a:ext cx="5715000" cy="475488"/>
          </a:xfrm>
          <a:prstGeom prst="rect">
            <a:avLst/>
          </a:prstGeom>
          <a:noFill/>
        </p:spPr>
        <p:txBody>
          <a:bodyPr wrap="square" lIns="19019" rIns="19019" tIns="19019" bIns="1901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Remove six crews from the bottom of the unit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3337560"/>
            <a:ext cx="347472" cy="347472"/>
          </a:xfrm>
          <a:prstGeom prst="roundRect">
            <a:avLst>
              <a:gd name="adj" fmla="val 8000"/>
            </a:avLst>
          </a:prstGeom>
          <a:solidFill>
            <a:srgbClr val="19A7A0"/>
          </a:solidFill>
          <a:ln>
            <a:solidFill>
              <a:srgbClr val="19A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355848"/>
            <a:ext cx="347472" cy="256032"/>
          </a:xfrm>
          <a:prstGeom prst="rect">
            <a:avLst/>
          </a:prstGeom>
          <a:noFill/>
        </p:spPr>
        <p:txBody>
          <a:bodyPr wrap="square" lIns="10241" rIns="10241" tIns="10241" bIns="10241" anchor="ctr">
            <a:norm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3312" y="3319272"/>
            <a:ext cx="5715000" cy="475488"/>
          </a:xfrm>
          <a:prstGeom prst="rect">
            <a:avLst/>
          </a:prstGeom>
          <a:noFill/>
        </p:spPr>
        <p:txBody>
          <a:bodyPr wrap="square" lIns="19019" rIns="19019" tIns="19019" bIns="1901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Remove the bottom cover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858768"/>
            <a:ext cx="347472" cy="347472"/>
          </a:xfrm>
          <a:prstGeom prst="roundRect">
            <a:avLst>
              <a:gd name="adj" fmla="val 8000"/>
            </a:avLst>
          </a:prstGeom>
          <a:solidFill>
            <a:srgbClr val="19A7A0"/>
          </a:solidFill>
          <a:ln>
            <a:solidFill>
              <a:srgbClr val="19A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877055"/>
            <a:ext cx="347472" cy="256032"/>
          </a:xfrm>
          <a:prstGeom prst="rect">
            <a:avLst/>
          </a:prstGeom>
          <a:noFill/>
        </p:spPr>
        <p:txBody>
          <a:bodyPr wrap="square" lIns="10241" rIns="10241" tIns="10241" bIns="10241" anchor="ctr">
            <a:norm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" y="3840480"/>
            <a:ext cx="5715000" cy="475488"/>
          </a:xfrm>
          <a:prstGeom prst="rect">
            <a:avLst/>
          </a:prstGeom>
          <a:noFill/>
        </p:spPr>
        <p:txBody>
          <a:bodyPr wrap="square" lIns="19019" rIns="19019" tIns="19019" bIns="1901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Remove 6 screws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4379976"/>
            <a:ext cx="347472" cy="347472"/>
          </a:xfrm>
          <a:prstGeom prst="roundRect">
            <a:avLst>
              <a:gd name="adj" fmla="val 8000"/>
            </a:avLst>
          </a:prstGeom>
          <a:solidFill>
            <a:srgbClr val="19A7A0"/>
          </a:solidFill>
          <a:ln>
            <a:solidFill>
              <a:srgbClr val="19A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398264"/>
            <a:ext cx="347472" cy="256032"/>
          </a:xfrm>
          <a:prstGeom prst="rect">
            <a:avLst/>
          </a:prstGeom>
          <a:noFill/>
        </p:spPr>
        <p:txBody>
          <a:bodyPr wrap="square" lIns="10241" rIns="10241" tIns="10241" bIns="10241" anchor="ctr">
            <a:norm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53312" y="4361688"/>
            <a:ext cx="5715000" cy="475488"/>
          </a:xfrm>
          <a:prstGeom prst="rect">
            <a:avLst/>
          </a:prstGeom>
          <a:noFill/>
        </p:spPr>
        <p:txBody>
          <a:bodyPr wrap="square" lIns="19019" rIns="19019" tIns="19019" bIns="1901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Remove plastiv cover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4901184"/>
            <a:ext cx="347472" cy="347472"/>
          </a:xfrm>
          <a:prstGeom prst="roundRect">
            <a:avLst>
              <a:gd name="adj" fmla="val 8000"/>
            </a:avLst>
          </a:prstGeom>
          <a:solidFill>
            <a:srgbClr val="19A7A0"/>
          </a:solidFill>
          <a:ln>
            <a:solidFill>
              <a:srgbClr val="19A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919472"/>
            <a:ext cx="347472" cy="256032"/>
          </a:xfrm>
          <a:prstGeom prst="rect">
            <a:avLst/>
          </a:prstGeom>
          <a:noFill/>
        </p:spPr>
        <p:txBody>
          <a:bodyPr wrap="square" lIns="10241" rIns="10241" tIns="10241" bIns="10241" anchor="ctr">
            <a:norm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53312" y="4882896"/>
            <a:ext cx="5715000" cy="475488"/>
          </a:xfrm>
          <a:prstGeom prst="rect">
            <a:avLst/>
          </a:prstGeom>
          <a:noFill/>
        </p:spPr>
        <p:txBody>
          <a:bodyPr wrap="square" lIns="19019" rIns="19019" tIns="19019" bIns="1901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Detach the valve tubes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" y="5422392"/>
            <a:ext cx="347472" cy="347472"/>
          </a:xfrm>
          <a:prstGeom prst="roundRect">
            <a:avLst>
              <a:gd name="adj" fmla="val 8000"/>
            </a:avLst>
          </a:prstGeom>
          <a:solidFill>
            <a:srgbClr val="19A7A0"/>
          </a:solidFill>
          <a:ln>
            <a:solidFill>
              <a:srgbClr val="19A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440680"/>
            <a:ext cx="347472" cy="256032"/>
          </a:xfrm>
          <a:prstGeom prst="rect">
            <a:avLst/>
          </a:prstGeom>
          <a:noFill/>
        </p:spPr>
        <p:txBody>
          <a:bodyPr wrap="square" lIns="10241" rIns="10241" tIns="10241" bIns="10241" anchor="ctr">
            <a:norm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5404104"/>
            <a:ext cx="5715000" cy="475488"/>
          </a:xfrm>
          <a:prstGeom prst="rect">
            <a:avLst/>
          </a:prstGeom>
          <a:noFill/>
        </p:spPr>
        <p:txBody>
          <a:bodyPr wrap="square" lIns="19019" rIns="19019" tIns="19019" bIns="1901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Remove 6 screws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35240" y="2194560"/>
            <a:ext cx="393192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63840" y="2395728"/>
            <a:ext cx="1371600" cy="201168"/>
          </a:xfrm>
          <a:prstGeom prst="rect">
            <a:avLst/>
          </a:prstGeom>
          <a:noFill/>
        </p:spPr>
        <p:txBody>
          <a:bodyPr wrap="square" lIns="8046" rIns="8046" tIns="8046" bIns="8046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rial"/>
              </a:rPr>
              <a:t>RESULT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2697480"/>
            <a:ext cx="3474720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• Heater (Unknown)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4023360"/>
            <a:ext cx="3474720" cy="182880"/>
          </a:xfrm>
          <a:prstGeom prst="rect">
            <a:avLst/>
          </a:prstGeom>
          <a:noFill/>
        </p:spPr>
        <p:txBody>
          <a:bodyPr wrap="square" lIns="7315" rIns="7315" tIns="7315" bIns="7315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>
                <a:solidFill>
                  <a:srgbClr val="19A7A0"/>
                </a:solidFill>
                <a:latin typeface="Arial"/>
              </a:rPr>
              <a:t>CONTINUES 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4242816"/>
            <a:ext cx="3474720" cy="384048"/>
          </a:xfrm>
          <a:prstGeom prst="rect">
            <a:avLst/>
          </a:prstGeom>
          <a:noFill/>
        </p:spPr>
        <p:txBody>
          <a:bodyPr wrap="square" lIns="15361" rIns="15361" tIns="15361" bIns="15361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14213D"/>
                </a:solidFill>
                <a:latin typeface="Arial"/>
              </a:rPr>
              <a:t>• Component (Unknown)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4800600"/>
            <a:ext cx="3474720" cy="182880"/>
          </a:xfrm>
          <a:prstGeom prst="rect">
            <a:avLst/>
          </a:prstGeom>
          <a:noFill/>
        </p:spPr>
        <p:txBody>
          <a:bodyPr wrap="square" lIns="7315" rIns="7315" tIns="7315" bIns="7315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>
                <a:solidFill>
                  <a:srgbClr val="19A7A0"/>
                </a:solidFill>
                <a:latin typeface="Arial"/>
              </a:rPr>
              <a:t>TOOLS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0" y="5010912"/>
            <a:ext cx="3474720" cy="411480"/>
          </a:xfrm>
          <a:prstGeom prst="rect">
            <a:avLst/>
          </a:prstGeom>
          <a:noFill/>
        </p:spPr>
        <p:txBody>
          <a:bodyPr wrap="square" lIns="16459" rIns="16459" tIns="16459" bIns="1645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14213D"/>
                </a:solidFill>
                <a:latin typeface="Arial"/>
              </a:rPr>
              <a:t>No tools specified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6547104"/>
            <a:ext cx="8686800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Ninja Coffee Bar Single-Serve System CF111 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35640" y="6547104"/>
            <a:ext cx="731520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rial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5303520" cy="256032"/>
          </a:xfrm>
          <a:prstGeom prst="rect">
            <a:avLst/>
          </a:prstGeom>
          <a:noFill/>
        </p:spPr>
        <p:txBody>
          <a:bodyPr wrap="square" lIns="10241" rIns="10241" tIns="10241" bIns="10241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rial"/>
              </a:rPr>
              <a:t>ACTION GROUP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02920"/>
          </a:xfrm>
          <a:prstGeom prst="rect">
            <a:avLst/>
          </a:prstGeom>
          <a:noFill/>
        </p:spPr>
        <p:txBody>
          <a:bodyPr wrap="square" lIns="20116" rIns="20116" tIns="20116" bIns="20116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1">
                <a:solidFill>
                  <a:srgbClr val="14213D"/>
                </a:solidFill>
                <a:latin typeface="Arial"/>
              </a:rPr>
              <a:t>Remove Heater · part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88720"/>
            <a:ext cx="10972800" cy="411480"/>
          </a:xfrm>
          <a:prstGeom prst="rect">
            <a:avLst/>
          </a:prstGeom>
          <a:noFill/>
        </p:spPr>
        <p:txBody>
          <a:bodyPr wrap="square" lIns="16459" rIns="16459" tIns="16459" bIns="1645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Atomic actions are grouped under their parent disassembly operation.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54480"/>
            <a:ext cx="10972800" cy="438912"/>
          </a:xfrm>
          <a:prstGeom prst="roundRect">
            <a:avLst>
              <a:gd name="adj" fmla="val 8000"/>
            </a:avLst>
          </a:prstGeom>
          <a:solidFill>
            <a:srgbClr val="DFF5F4"/>
          </a:solidFill>
          <a:ln>
            <a:solidFill>
              <a:srgbClr val="DFF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8229600" cy="201168"/>
          </a:xfrm>
          <a:prstGeom prst="rect">
            <a:avLst/>
          </a:prstGeom>
          <a:noFill/>
        </p:spPr>
        <p:txBody>
          <a:bodyPr wrap="square" lIns="8046" rIns="8046" tIns="8046" bIns="8046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Source: Component (Unknown)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64040" y="1664208"/>
            <a:ext cx="1783080" cy="201168"/>
          </a:xfrm>
          <a:prstGeom prst="rect">
            <a:avLst/>
          </a:prstGeom>
          <a:noFill/>
        </p:spPr>
        <p:txBody>
          <a:bodyPr wrap="square" lIns="8046" rIns="8046" tIns="8046" bIns="8046" anchor="t">
            <a:norm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1">
                <a:solidFill>
                  <a:srgbClr val="19A7A0"/>
                </a:solidFill>
                <a:latin typeface="Arial"/>
              </a:rPr>
              <a:t>explicit source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94560"/>
            <a:ext cx="681228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50592"/>
            <a:ext cx="274320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rial"/>
              </a:rPr>
              <a:t>ATOMIC ACTIONS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816352"/>
            <a:ext cx="347472" cy="347472"/>
          </a:xfrm>
          <a:prstGeom prst="roundRect">
            <a:avLst>
              <a:gd name="adj" fmla="val 8000"/>
            </a:avLst>
          </a:prstGeom>
          <a:solidFill>
            <a:srgbClr val="19A7A0"/>
          </a:solidFill>
          <a:ln>
            <a:solidFill>
              <a:srgbClr val="19A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34640"/>
            <a:ext cx="347472" cy="256032"/>
          </a:xfrm>
          <a:prstGeom prst="rect">
            <a:avLst/>
          </a:prstGeom>
          <a:noFill/>
        </p:spPr>
        <p:txBody>
          <a:bodyPr wrap="square" lIns="10241" rIns="10241" tIns="10241" bIns="10241" anchor="ctr">
            <a:norm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2798064"/>
            <a:ext cx="5715000" cy="475488"/>
          </a:xfrm>
          <a:prstGeom prst="rect">
            <a:avLst/>
          </a:prstGeom>
          <a:noFill/>
        </p:spPr>
        <p:txBody>
          <a:bodyPr wrap="square" lIns="19019" rIns="19019" tIns="19019" bIns="1901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pry the upper cover off the unit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3337560"/>
            <a:ext cx="347472" cy="347472"/>
          </a:xfrm>
          <a:prstGeom prst="roundRect">
            <a:avLst>
              <a:gd name="adj" fmla="val 8000"/>
            </a:avLst>
          </a:prstGeom>
          <a:solidFill>
            <a:srgbClr val="19A7A0"/>
          </a:solidFill>
          <a:ln>
            <a:solidFill>
              <a:srgbClr val="19A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355848"/>
            <a:ext cx="347472" cy="256032"/>
          </a:xfrm>
          <a:prstGeom prst="rect">
            <a:avLst/>
          </a:prstGeom>
          <a:noFill/>
        </p:spPr>
        <p:txBody>
          <a:bodyPr wrap="square" lIns="10241" rIns="10241" tIns="10241" bIns="10241" anchor="ctr">
            <a:norm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3312" y="3319272"/>
            <a:ext cx="5715000" cy="475488"/>
          </a:xfrm>
          <a:prstGeom prst="rect">
            <a:avLst/>
          </a:prstGeom>
          <a:noFill/>
        </p:spPr>
        <p:txBody>
          <a:bodyPr wrap="square" lIns="19019" rIns="19019" tIns="19019" bIns="1901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Separate hose from upper nozzle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858768"/>
            <a:ext cx="347472" cy="347472"/>
          </a:xfrm>
          <a:prstGeom prst="roundRect">
            <a:avLst>
              <a:gd name="adj" fmla="val 8000"/>
            </a:avLst>
          </a:prstGeom>
          <a:solidFill>
            <a:srgbClr val="19A7A0"/>
          </a:solidFill>
          <a:ln>
            <a:solidFill>
              <a:srgbClr val="19A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877055"/>
            <a:ext cx="347472" cy="256032"/>
          </a:xfrm>
          <a:prstGeom prst="rect">
            <a:avLst/>
          </a:prstGeom>
          <a:noFill/>
        </p:spPr>
        <p:txBody>
          <a:bodyPr wrap="square" lIns="10241" rIns="10241" tIns="10241" bIns="10241" anchor="ctr">
            <a:norm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" y="3840480"/>
            <a:ext cx="5715000" cy="475488"/>
          </a:xfrm>
          <a:prstGeom prst="rect">
            <a:avLst/>
          </a:prstGeom>
          <a:noFill/>
        </p:spPr>
        <p:txBody>
          <a:bodyPr wrap="square" lIns="19019" rIns="19019" tIns="19019" bIns="1901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Remove 3 screws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4379976"/>
            <a:ext cx="347472" cy="347472"/>
          </a:xfrm>
          <a:prstGeom prst="roundRect">
            <a:avLst>
              <a:gd name="adj" fmla="val 8000"/>
            </a:avLst>
          </a:prstGeom>
          <a:solidFill>
            <a:srgbClr val="19A7A0"/>
          </a:solidFill>
          <a:ln>
            <a:solidFill>
              <a:srgbClr val="19A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398264"/>
            <a:ext cx="347472" cy="256032"/>
          </a:xfrm>
          <a:prstGeom prst="rect">
            <a:avLst/>
          </a:prstGeom>
          <a:noFill/>
        </p:spPr>
        <p:txBody>
          <a:bodyPr wrap="square" lIns="10241" rIns="10241" tIns="10241" bIns="10241" anchor="ctr">
            <a:norm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53312" y="4361688"/>
            <a:ext cx="5715000" cy="475488"/>
          </a:xfrm>
          <a:prstGeom prst="rect">
            <a:avLst/>
          </a:prstGeom>
          <a:noFill/>
        </p:spPr>
        <p:txBody>
          <a:bodyPr wrap="square" lIns="19019" rIns="19019" tIns="19019" bIns="1901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Remove heater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35240" y="2194560"/>
            <a:ext cx="393192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0" y="2395728"/>
            <a:ext cx="1371600" cy="201168"/>
          </a:xfrm>
          <a:prstGeom prst="rect">
            <a:avLst/>
          </a:prstGeom>
          <a:noFill/>
        </p:spPr>
        <p:txBody>
          <a:bodyPr wrap="square" lIns="8046" rIns="8046" tIns="8046" bIns="8046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rial"/>
              </a:rPr>
              <a:t>RESULT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2697480"/>
            <a:ext cx="3474720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• Heater (Unknown)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4023360"/>
            <a:ext cx="3474720" cy="182880"/>
          </a:xfrm>
          <a:prstGeom prst="rect">
            <a:avLst/>
          </a:prstGeom>
          <a:noFill/>
        </p:spPr>
        <p:txBody>
          <a:bodyPr wrap="square" lIns="7315" rIns="7315" tIns="7315" bIns="7315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>
                <a:solidFill>
                  <a:srgbClr val="19A7A0"/>
                </a:solidFill>
                <a:latin typeface="Arial"/>
              </a:rPr>
              <a:t>CONTINUES 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4242816"/>
            <a:ext cx="3474720" cy="384048"/>
          </a:xfrm>
          <a:prstGeom prst="rect">
            <a:avLst/>
          </a:prstGeom>
          <a:noFill/>
        </p:spPr>
        <p:txBody>
          <a:bodyPr wrap="square" lIns="15361" rIns="15361" tIns="15361" bIns="15361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14213D"/>
                </a:solidFill>
                <a:latin typeface="Arial"/>
              </a:rPr>
              <a:t>• Component (Unknown)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4800600"/>
            <a:ext cx="3474720" cy="182880"/>
          </a:xfrm>
          <a:prstGeom prst="rect">
            <a:avLst/>
          </a:prstGeom>
          <a:noFill/>
        </p:spPr>
        <p:txBody>
          <a:bodyPr wrap="square" lIns="7315" rIns="7315" tIns="7315" bIns="7315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>
                <a:solidFill>
                  <a:srgbClr val="19A7A0"/>
                </a:solidFill>
                <a:latin typeface="Arial"/>
              </a:rPr>
              <a:t>TOOLS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5010912"/>
            <a:ext cx="3474720" cy="411480"/>
          </a:xfrm>
          <a:prstGeom prst="rect">
            <a:avLst/>
          </a:prstGeom>
          <a:noFill/>
        </p:spPr>
        <p:txBody>
          <a:bodyPr wrap="square" lIns="16459" rIns="16459" tIns="16459" bIns="1645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14213D"/>
                </a:solidFill>
                <a:latin typeface="Arial"/>
              </a:rPr>
              <a:t>No tools specified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547104"/>
            <a:ext cx="8686800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Ninja Coffee Bar Single-Serve System CF111 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35640" y="6547104"/>
            <a:ext cx="731520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rial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5303520" cy="256032"/>
          </a:xfrm>
          <a:prstGeom prst="rect">
            <a:avLst/>
          </a:prstGeom>
          <a:noFill/>
        </p:spPr>
        <p:txBody>
          <a:bodyPr wrap="square" lIns="10241" rIns="10241" tIns="10241" bIns="10241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rial"/>
              </a:rPr>
              <a:t>ACTION GROUP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02920"/>
          </a:xfrm>
          <a:prstGeom prst="rect">
            <a:avLst/>
          </a:prstGeom>
          <a:noFill/>
        </p:spPr>
        <p:txBody>
          <a:bodyPr wrap="square" lIns="20116" rIns="20116" tIns="20116" bIns="20116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 b="1">
                <a:solidFill>
                  <a:srgbClr val="14213D"/>
                </a:solidFill>
                <a:latin typeface="Arial"/>
              </a:rPr>
              <a:t>Remove power cable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88720"/>
            <a:ext cx="10972800" cy="411480"/>
          </a:xfrm>
          <a:prstGeom prst="rect">
            <a:avLst/>
          </a:prstGeom>
          <a:noFill/>
        </p:spPr>
        <p:txBody>
          <a:bodyPr wrap="square" lIns="16459" rIns="16459" tIns="16459" bIns="1645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Atomic actions are grouped under their parent disassembly operation.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54480"/>
            <a:ext cx="10972800" cy="438912"/>
          </a:xfrm>
          <a:prstGeom prst="roundRect">
            <a:avLst>
              <a:gd name="adj" fmla="val 8000"/>
            </a:avLst>
          </a:prstGeom>
          <a:solidFill>
            <a:srgbClr val="DFF5F4"/>
          </a:solidFill>
          <a:ln>
            <a:solidFill>
              <a:srgbClr val="DFF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8229600" cy="201168"/>
          </a:xfrm>
          <a:prstGeom prst="rect">
            <a:avLst/>
          </a:prstGeom>
          <a:noFill/>
        </p:spPr>
        <p:txBody>
          <a:bodyPr wrap="square" lIns="8046" rIns="8046" tIns="8046" bIns="8046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14213D"/>
                </a:solidFill>
                <a:latin typeface="Arial"/>
              </a:rPr>
              <a:t>Source: Component (Unknown)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64040" y="1664208"/>
            <a:ext cx="1783080" cy="201168"/>
          </a:xfrm>
          <a:prstGeom prst="rect">
            <a:avLst/>
          </a:prstGeom>
          <a:noFill/>
        </p:spPr>
        <p:txBody>
          <a:bodyPr wrap="square" lIns="8046" rIns="8046" tIns="8046" bIns="8046" anchor="t">
            <a:norm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1">
                <a:solidFill>
                  <a:srgbClr val="19A7A0"/>
                </a:solidFill>
                <a:latin typeface="Arial"/>
              </a:rPr>
              <a:t>explicit source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94560"/>
            <a:ext cx="681228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50592"/>
            <a:ext cx="274320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rial"/>
              </a:rPr>
              <a:t>ATOMIC ACTIONS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816352"/>
            <a:ext cx="347472" cy="347472"/>
          </a:xfrm>
          <a:prstGeom prst="roundRect">
            <a:avLst>
              <a:gd name="adj" fmla="val 8000"/>
            </a:avLst>
          </a:prstGeom>
          <a:solidFill>
            <a:srgbClr val="19A7A0"/>
          </a:solidFill>
          <a:ln>
            <a:solidFill>
              <a:srgbClr val="19A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34640"/>
            <a:ext cx="347472" cy="256032"/>
          </a:xfrm>
          <a:prstGeom prst="rect">
            <a:avLst/>
          </a:prstGeom>
          <a:noFill/>
        </p:spPr>
        <p:txBody>
          <a:bodyPr wrap="square" lIns="10241" rIns="10241" tIns="10241" bIns="10241" anchor="ctr">
            <a:norm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2798064"/>
            <a:ext cx="5715000" cy="475488"/>
          </a:xfrm>
          <a:prstGeom prst="rect">
            <a:avLst/>
          </a:prstGeom>
          <a:noFill/>
        </p:spPr>
        <p:txBody>
          <a:bodyPr wrap="square" lIns="19019" rIns="19019" tIns="19019" bIns="1901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Remove six crews from the bottom of the unit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3337560"/>
            <a:ext cx="347472" cy="347472"/>
          </a:xfrm>
          <a:prstGeom prst="roundRect">
            <a:avLst>
              <a:gd name="adj" fmla="val 8000"/>
            </a:avLst>
          </a:prstGeom>
          <a:solidFill>
            <a:srgbClr val="19A7A0"/>
          </a:solidFill>
          <a:ln>
            <a:solidFill>
              <a:srgbClr val="19A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355848"/>
            <a:ext cx="347472" cy="256032"/>
          </a:xfrm>
          <a:prstGeom prst="rect">
            <a:avLst/>
          </a:prstGeom>
          <a:noFill/>
        </p:spPr>
        <p:txBody>
          <a:bodyPr wrap="square" lIns="10241" rIns="10241" tIns="10241" bIns="10241" anchor="ctr">
            <a:norm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3312" y="3319272"/>
            <a:ext cx="5715000" cy="475488"/>
          </a:xfrm>
          <a:prstGeom prst="rect">
            <a:avLst/>
          </a:prstGeom>
          <a:noFill/>
        </p:spPr>
        <p:txBody>
          <a:bodyPr wrap="square" lIns="19019" rIns="19019" tIns="19019" bIns="1901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Remove the bottom cover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858768"/>
            <a:ext cx="347472" cy="347472"/>
          </a:xfrm>
          <a:prstGeom prst="roundRect">
            <a:avLst>
              <a:gd name="adj" fmla="val 8000"/>
            </a:avLst>
          </a:prstGeom>
          <a:solidFill>
            <a:srgbClr val="19A7A0"/>
          </a:solidFill>
          <a:ln>
            <a:solidFill>
              <a:srgbClr val="19A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877055"/>
            <a:ext cx="347472" cy="256032"/>
          </a:xfrm>
          <a:prstGeom prst="rect">
            <a:avLst/>
          </a:prstGeom>
          <a:noFill/>
        </p:spPr>
        <p:txBody>
          <a:bodyPr wrap="square" lIns="10241" rIns="10241" tIns="10241" bIns="10241" anchor="ctr">
            <a:norm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" y="3840480"/>
            <a:ext cx="5715000" cy="475488"/>
          </a:xfrm>
          <a:prstGeom prst="rect">
            <a:avLst/>
          </a:prstGeom>
          <a:noFill/>
        </p:spPr>
        <p:txBody>
          <a:bodyPr wrap="square" lIns="19019" rIns="19019" tIns="19019" bIns="1901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loosen two screws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4379976"/>
            <a:ext cx="347472" cy="347472"/>
          </a:xfrm>
          <a:prstGeom prst="roundRect">
            <a:avLst>
              <a:gd name="adj" fmla="val 8000"/>
            </a:avLst>
          </a:prstGeom>
          <a:solidFill>
            <a:srgbClr val="19A7A0"/>
          </a:solidFill>
          <a:ln>
            <a:solidFill>
              <a:srgbClr val="19A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398264"/>
            <a:ext cx="347472" cy="256032"/>
          </a:xfrm>
          <a:prstGeom prst="rect">
            <a:avLst/>
          </a:prstGeom>
          <a:noFill/>
        </p:spPr>
        <p:txBody>
          <a:bodyPr wrap="square" lIns="10241" rIns="10241" tIns="10241" bIns="10241" anchor="ctr">
            <a:norm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53312" y="4361688"/>
            <a:ext cx="5715000" cy="475488"/>
          </a:xfrm>
          <a:prstGeom prst="rect">
            <a:avLst/>
          </a:prstGeom>
          <a:noFill/>
        </p:spPr>
        <p:txBody>
          <a:bodyPr wrap="square" lIns="19019" rIns="19019" tIns="19019" bIns="1901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remove clamp holding power cable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4901184"/>
            <a:ext cx="347472" cy="347472"/>
          </a:xfrm>
          <a:prstGeom prst="roundRect">
            <a:avLst>
              <a:gd name="adj" fmla="val 8000"/>
            </a:avLst>
          </a:prstGeom>
          <a:solidFill>
            <a:srgbClr val="19A7A0"/>
          </a:solidFill>
          <a:ln>
            <a:solidFill>
              <a:srgbClr val="19A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919472"/>
            <a:ext cx="347472" cy="256032"/>
          </a:xfrm>
          <a:prstGeom prst="rect">
            <a:avLst/>
          </a:prstGeom>
          <a:noFill/>
        </p:spPr>
        <p:txBody>
          <a:bodyPr wrap="square" lIns="10241" rIns="10241" tIns="10241" bIns="10241" anchor="ctr">
            <a:norm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53312" y="4882896"/>
            <a:ext cx="5715000" cy="475488"/>
          </a:xfrm>
          <a:prstGeom prst="rect">
            <a:avLst/>
          </a:prstGeom>
          <a:noFill/>
        </p:spPr>
        <p:txBody>
          <a:bodyPr wrap="square" lIns="19019" rIns="19019" tIns="19019" bIns="1901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Pull the power cable out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35240" y="2194560"/>
            <a:ext cx="393192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0" y="2395728"/>
            <a:ext cx="1371600" cy="201168"/>
          </a:xfrm>
          <a:prstGeom prst="rect">
            <a:avLst/>
          </a:prstGeom>
          <a:noFill/>
        </p:spPr>
        <p:txBody>
          <a:bodyPr wrap="square" lIns="8046" rIns="8046" tIns="8046" bIns="8046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rial"/>
              </a:rPr>
              <a:t>RESULT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2697480"/>
            <a:ext cx="3474720" cy="11887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14213D"/>
                </a:solidFill>
                <a:latin typeface="Arial"/>
              </a:rPr>
              <a:t>• Power cable (Unknown)
• Component (Unknown)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4023360"/>
            <a:ext cx="3474720" cy="182880"/>
          </a:xfrm>
          <a:prstGeom prst="rect">
            <a:avLst/>
          </a:prstGeom>
          <a:noFill/>
        </p:spPr>
        <p:txBody>
          <a:bodyPr wrap="square" lIns="7315" rIns="7315" tIns="7315" bIns="7315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>
                <a:solidFill>
                  <a:srgbClr val="19A7A0"/>
                </a:solidFill>
                <a:latin typeface="Arial"/>
              </a:rPr>
              <a:t>CONTINUES 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4242816"/>
            <a:ext cx="3474720" cy="384048"/>
          </a:xfrm>
          <a:prstGeom prst="rect">
            <a:avLst/>
          </a:prstGeom>
          <a:noFill/>
        </p:spPr>
        <p:txBody>
          <a:bodyPr wrap="square" lIns="15361" rIns="15361" tIns="15361" bIns="15361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14213D"/>
                </a:solidFill>
                <a:latin typeface="Arial"/>
              </a:rPr>
              <a:t>End of this branch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800600"/>
            <a:ext cx="3474720" cy="182880"/>
          </a:xfrm>
          <a:prstGeom prst="rect">
            <a:avLst/>
          </a:prstGeom>
          <a:noFill/>
        </p:spPr>
        <p:txBody>
          <a:bodyPr wrap="square" lIns="7315" rIns="7315" tIns="7315" bIns="7315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>
                <a:solidFill>
                  <a:srgbClr val="19A7A0"/>
                </a:solidFill>
                <a:latin typeface="Arial"/>
              </a:rPr>
              <a:t>TOOLS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5010912"/>
            <a:ext cx="3474720" cy="411480"/>
          </a:xfrm>
          <a:prstGeom prst="rect">
            <a:avLst/>
          </a:prstGeom>
          <a:noFill/>
        </p:spPr>
        <p:txBody>
          <a:bodyPr wrap="square" lIns="16459" rIns="16459" tIns="16459" bIns="16459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14213D"/>
                </a:solidFill>
                <a:latin typeface="Arial"/>
              </a:rPr>
              <a:t>No tools specified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6547104"/>
            <a:ext cx="8686800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Ninja Coffee Bar Single-Serve System CF111 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35640" y="6547104"/>
            <a:ext cx="731520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rial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234440"/>
            <a:ext cx="4754880" cy="292608"/>
          </a:xfrm>
          <a:prstGeom prst="rect">
            <a:avLst/>
          </a:prstGeom>
          <a:noFill/>
        </p:spPr>
        <p:txBody>
          <a:bodyPr wrap="square" lIns="11704" rIns="11704" tIns="11704" bIns="11704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19A7A0"/>
                </a:solidFill>
                <a:latin typeface="Arial"/>
              </a:rPr>
              <a:t>EXPORT COMPLETE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9601200" cy="7772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4 action groups prepared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971800"/>
            <a:ext cx="9692640" cy="9144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The PowerPoint remains fully editable: text, tables, images and component information 
can be revised after export.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4800600"/>
            <a:ext cx="4937760" cy="777240"/>
          </a:xfrm>
          <a:prstGeom prst="roundRect">
            <a:avLst>
              <a:gd name="adj" fmla="val 8000"/>
            </a:avLst>
          </a:prstGeom>
          <a:solidFill>
            <a:srgbClr val="1E3450"/>
          </a:solidFill>
          <a:ln>
            <a:solidFill>
              <a:srgbClr val="1E3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5029200"/>
            <a:ext cx="4480560" cy="292608"/>
          </a:xfrm>
          <a:prstGeom prst="rect">
            <a:avLst/>
          </a:prstGeom>
          <a:noFill/>
        </p:spPr>
        <p:txBody>
          <a:bodyPr wrap="square" lIns="11704" rIns="11704" tIns="11704" bIns="11704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19A7A0"/>
                </a:solidFill>
                <a:latin typeface="Arial"/>
              </a:rPr>
              <a:t>Ninja Coffee Bar Single-Serve System CF111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47104"/>
            <a:ext cx="8686800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Ninja Coffee Bar Single-Serve System CF111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6547104"/>
            <a:ext cx="731520" cy="164592"/>
          </a:xfrm>
          <a:prstGeom prst="rect">
            <a:avLst/>
          </a:prstGeom>
          <a:noFill/>
        </p:spPr>
        <p:txBody>
          <a:bodyPr wrap="square" lIns="6583" rIns="6583" tIns="6583" bIns="6583" anchor="t">
            <a:norm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rial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