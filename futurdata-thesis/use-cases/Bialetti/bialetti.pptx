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12801" rIns="12801" tIns="12801" bIns="1280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Bialetti Gioia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1945" rIns="21945" tIns="21945" bIns="2194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rial"/>
              </a:rPr>
              <a:t>PPTX export • 7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10972" rIns="10972" tIns="10972" bIns="1097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Nominal weight  2500 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rial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Arial"/>
              </a:rPr>
              <a:t>2046965323920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300" b="1">
                <a:solidFill>
                  <a:srgbClr val="14213D"/>
                </a:solidFill>
                <a:latin typeface="Arial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Name: Bialetti Gioia
Weight: 2500 g
Material: Unknown
Color: Unknown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rial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• Soft cloth
• Torx T10 screwdriver
• Phillips PH1 screwdriver
• Plastic pry tool
• Hands
• JST connector tool
• Phillips PH0 screwdriver
• Container
• Hose clamp pliers
• Side cutters
• Heat-resistant gloves (precaution)
• 10 mm wrench
• Bench vice with soft jaws
• Hex key (typically 4 mm)
• Soft mallet
• Press / saw (destructive option)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843664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Outer shell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260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185360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Water tank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150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305744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Capsule drawer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187728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Capsule lever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130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186576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Button panel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35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954192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Capsule sensor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18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817808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Vibration pump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185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762832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Silicone tubing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22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2046970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849104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Flow meter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28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764560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Main PCB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2047097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655888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Wiring harness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70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2046879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036304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Power cord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140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877712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Chassis frame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967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2046881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532816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Thermoblock fasteners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2046878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694160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Heating element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45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2046994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986000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Safety thermostat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15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2046965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449232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Aluminium body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240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2046884</a:t>
                      </a:r>
                    </a:p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534032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rial"/>
                        </a:rPr>
                        <a:t>Stainless tube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60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Open outer shell from chassis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Bialetti Gioia (2500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Place the machine upside-down on a soft cloth so the bottom plate is 
accessible; remove any residual water from the tank seat to avoid leaks.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the 4 Torx T10 screws located at the corners of the bottom 
plate.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the 2 Phillips PH1 screws behind the rear panel, near the 
power-cord grommet.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Release the 4 internal plastic clips along the vertical edges by gently 
prying with a flat plastic tool.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Lift the upper shell vertically, keeping it parallel to the base, to separate 
it from the internal chassis.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Outer shell (260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Chassis (full) (2240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Soft cloth, Torx T10 screwdriver, Phillips PH1 
screwdriver, Plastic pry tool, Hands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Remove user-accessible parts (tank, drawer, lever)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Chassis (full) (2240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Lift out the 0.5 L removable water tank from its seat at the rear of the 
machine.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Pull out the used-capsule drawer from the front-bottom slot.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Release the 2 Phillips PH1 screws of the capsule lever / brewing-group 
assembly and lift it 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Water tank (150 g)
• Capsule drawer (60 g)
• Capsule lever (130 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Chassis (no user parts) (1900 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Hands, Phillips PH1 screwdriver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Disconnect and remove the front control-panel assembly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Chassis (no user parts) (1900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Unplug the JST-XH 4-pin connector that links the front button board to 
the main PCB; press the latch before pulling.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Unplug the JST-PH 2-pin connector of the aluminium-capsule sensor, 
located just behind the capsule lever assembly.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the 2 Phillips PH0 screws that hold the button panel to the 
front of the chassis.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Slide the button panel forward and lift it out together with the integrated 
LED indicators and the capsule sensor.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Button panel (35 g)
• Capsule sensor (18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Chassis (no panel) (1847 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JST connector tool, Phillips PH0 screwdriver, Hands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Extract pump, tubing and flow meter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Chassis (no panel) (1847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Place a container under the chassis to catch ~30 mL of residual water 
that will drip from the tubing during removal.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Release the spring clamp on the silicone tube from the tank valve to 
the pump inlet; slide the tube off the barb.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Release the spring clamps on the silicone tubes from the pump outlet 
to the flow meter, and from the flow meter to the thermoblock inlet.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Unplug the 2-pin power connector that supplies the pump from the 
main PCB.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Unscrew the 2 Phillips PH1 screws holding the pump bracket to the chassis, then lift 
the pump together with the flow meter and the tubing as a single hydraulic assembly.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Vibration pump (185 g)
• Silicone tubing (22 g)
• Flow meter (28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Chassis (no hydraulic) (1612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Container, Hose clamp pliers, Hands, Phillips PH1 
screwdriver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Extract main PCB, wiring harness and power 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Chassis (no hydraulic) (1612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Unplug all remaining JST connectors from the main PCB: thermostat 
lead, thermoblock heater lead, pump triac lead.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Disconnect the mains input wires from the PCB screw terminals (LIVE / 
NEUTRAL / EARTH).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Cut any cable ties that fix the wiring harness to the chassis ribs.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the 4 Phillips PH0 screws securing the PCB to its plastic tray 
and lift the board 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Pull the wiring harness and the power cord through the chassis cut-out 
as a single bundle.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Main PCB (55 g)
• Wiring harness (70 g)
• Power cord (140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Chassis (only thermoblock) (1347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JST connector tool, Phillips PH0 screwdriver, Side 
cutters, Hands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Extract the thermoblock assembly and free the chassis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Chassis (only thermoblock) (1347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Verify the machine has been unplugged for at least 30 minutes so the 
thermoblock has fully cooled before touching the metal body.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Disconnect the two faston terminals of the heating element from the 
harness, and the 2-pin JST of the safety thermostat.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the brass nut at the thermoblock outlet (towards the brew 
chamber) using a 10 mm wrench; keep a cloth nearby for residual drips.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the 2 Phillips PH1 screws of the thermoblock bracket on the 
chassis side wall.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901184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882896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rial"/>
              </a:rPr>
              <a:t>Lift the thermoblock assembly vertically out of its seat.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Chassis frame (967 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• Thermoblock assembly (380 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Heat-resistant gloves (precaution), Hands, 10 mm 
wrench, Phillips PH1 screwdriver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10241" rIns="10241" tIns="10241" bIns="1024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0116" rIns="20116" tIns="20116" bIns="2011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rial"/>
              </a:rPr>
              <a:t>Mechanically disassemble the thermoblock into its leaves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rial"/>
              </a:rPr>
              <a:t>Source: Thermoblock assembly (380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9144" rIns="9144" tIns="9144" bIns="914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Clamp the aluminium body in a bench vice with soft jaws to avoid 
marking the surface; keep the heating-element side accessible.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Unscrew the safety thermostat from its threaded seat on the body; it 
comes out as a single threaded brass capsule.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58768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77055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840480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rial"/>
              </a:rPr>
              <a:t>Push out the heating element from its dedicated tunnel inside the 
aluminium body, gently tapping with a soft mallet if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9976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98264"/>
            <a:ext cx="347472" cy="256032"/>
          </a:xfrm>
          <a:prstGeom prst="rect">
            <a:avLst/>
          </a:prstGeom>
          <a:noFill/>
        </p:spPr>
        <p:txBody>
          <a:bodyPr wrap="square" lIns="10241" rIns="10241" tIns="10241" bIns="10241" anchor="ctr">
            <a:norm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61688"/>
            <a:ext cx="5715000" cy="475488"/>
          </a:xfrm>
          <a:prstGeom prst="rect">
            <a:avLst/>
          </a:prstGeom>
          <a:noFill/>
        </p:spPr>
        <p:txBody>
          <a:bodyPr wrap="square" lIns="19019" rIns="19019" tIns="19019" bIns="1901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4213D"/>
                </a:solidFill>
                <a:latin typeface="Arial"/>
              </a:rPr>
              <a:t>Separate the stainless-steel tube (water path) from the aluminium body; 
depending on the design, this may require a press or destructive cut.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8046" rIns="8046" tIns="8046" bIns="8046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rial"/>
              </a:rP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rial"/>
              </a:rPr>
              <a:t>• Thermoblock fasteners (20 g)
• Heating element (45 g)
• Safety thermostat (15 g)
• Aluminium body (240 g)
• Stainless tube (60 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CONTINUES 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15361" rIns="15361" tIns="15361" bIns="15361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End of this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7315" rIns="7315" tIns="7315" bIns="7315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rial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16459" rIns="16459" tIns="16459" bIns="16459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rial"/>
              </a:rPr>
              <a:t>Bench vice with soft jaws, Hex key (typically 4 mm), Soft 
mallet, Press / saw (destructive option)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rial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7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The PowerPoint remains fully editable: text, tables, images and component information 
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11704" rIns="11704" tIns="11704" bIns="11704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rial"/>
              </a:rPr>
              <a:t>Bialetti Gioia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rial"/>
              </a:rPr>
              <a:t>Bialetti Gioia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6583" rIns="6583" tIns="6583" bIns="6583" anchor="t">
            <a:norm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