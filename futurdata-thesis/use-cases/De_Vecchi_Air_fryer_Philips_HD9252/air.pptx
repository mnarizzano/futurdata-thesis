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39712"/>
          </a:xfrm>
          <a:prstGeom prst="rect">
            <a:avLst/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85800"/>
            <a:ext cx="457200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FUTURDATA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234440"/>
            <a:ext cx="685800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ptos"/>
              </a:rPr>
              <a:t>Disassembly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6858000" cy="1051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0">
                <a:solidFill>
                  <a:srgbClr val="FFFFFF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68580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7D4E3"/>
                </a:solidFill>
                <a:latin typeface="Aptos"/>
              </a:rPr>
              <a:t>PPTX export • 16 action group(s) • depth: DepthMode.FULL • schema 1.1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892040"/>
            <a:ext cx="3474720" cy="73152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5102352"/>
            <a:ext cx="2971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Nominal weight  4500 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143000"/>
            <a:ext cx="2880360" cy="44348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345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697480"/>
            <a:ext cx="214884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7B92AB"/>
                </a:solidFill>
                <a:latin typeface="Aptos"/>
              </a:rPr>
              <a:t>PRODUCT
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 / 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Export scope and model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PRODUCT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2912341222480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10712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ACTION GROUPS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7064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BOM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18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43416" y="17830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44584" y="1975104"/>
            <a:ext cx="21031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VALIDATION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44584" y="2286000"/>
            <a:ext cx="21031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14213D"/>
                </a:solidFill>
                <a:latin typeface="Aptos"/>
              </a:rPr>
              <a:t>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246120"/>
            <a:ext cx="54406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02152"/>
            <a:ext cx="22860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PRODUCT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822191"/>
            <a:ext cx="48463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Name: Air fryer Philips HD9252
Weight: 4500 g
Material: 6
Color: 4
Depth mode: DepthMode.FULL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246120"/>
            <a:ext cx="5321808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3502152"/>
            <a:ext cx="25603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EXPORT BEHAVIOUR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822191"/>
            <a:ext cx="4617720" cy="1600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4213D"/>
                </a:solidFill>
                <a:latin typeface="Aptos"/>
              </a:rPr>
              <a:t>• Parent operation and atomic actions stay grouped.
• Output components and remaining assembly are shown.
• Text and images remain editable in PowerPoint.
• Unknown branch sources are never guessed.
• Source JSON is opened read-only and never modified.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Model warnings and errors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Each issue is localized to the corresponding JSON element when possible.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8308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78308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92807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SEVERITY.WARNING · mass_balance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874519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Mass imbalance: leaf components sum to 3304 but the product weighs 4500 (26.6% off).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71800" y="217627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node_ids=[2912341222480]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532888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2532888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42616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624328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'Air fryer Philips HD9252' weighs 4500; outputs plus continuation weigh 3400 (24.4% difference).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926080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82696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282696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71800" y="3374136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'Inferior body unscrewed' weighs 2612; outputs plus continuation weigh 2652 (1.5% difference).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3675887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steps[5]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032504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" y="4032504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14223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123944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'Basket' weighs 400; outputs plus continuation weigh 250 (37.5% difference).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4425696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steps[10]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4782312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" y="4782312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92040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71800" y="4873752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'Tray with handle' weighs 250; outputs plus continuation weigh 254 (1.6% difference).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5175504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5532120"/>
            <a:ext cx="10972800" cy="6583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4360" y="5532120"/>
            <a:ext cx="109728" cy="6583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641848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59E0B"/>
                </a:solidFill>
                <a:latin typeface="Aptos"/>
              </a:rPr>
              <a:t>WARNING · step_mass_balance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72237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Input 'Handle without screws' weighs 142; outputs plus continuation weigh 152 (7.0% difference).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71800" y="5925312"/>
            <a:ext cx="7955279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Location: steps[13]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Tools and safety notices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Aggregated from step-level and atomic-action metadata.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9A7A0"/>
                </a:solidFill>
                <a:latin typeface="Aptos"/>
              </a:rPr>
              <a:t>TOOLS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tools are specified in this model.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737360"/>
            <a:ext cx="5349240" cy="4434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30175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ptos"/>
              </a:rPr>
              <a:t>SAFETY NOTICES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423160"/>
            <a:ext cx="4617720" cy="3337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• No safety notices are specified in this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1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2912341223056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Plastic cover (8 hooks)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2912341223376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Angular screw (12.4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2912341224080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Transformer screws (39.5 mm)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2912341224272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 top piece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2912341224208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Cables (brown and white)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2912341224400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Transformer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600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2912334149392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Inferior body without transformer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1992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2912341223824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 board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30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2912341227024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Top without motherboard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170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BILL OF MATERIALS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Recovered components — page 2 of 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572768"/>
          <a:ext cx="10789919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749039"/>
                <a:gridCol w="1051560"/>
                <a:gridCol w="1234440"/>
                <a:gridCol w="960120"/>
                <a:gridCol w="1508760"/>
                <a:gridCol w="1645920"/>
              </a:tblGrid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ID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Weight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Material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Color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Quality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64008" marR="64008" marT="36576" marB="36576">
                    <a:solidFill>
                      <a:srgbClr val="132238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2912341223952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Motherboard Touch Screen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50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2912341222672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2 Top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2912341225488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Tray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2912341222800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4 Frontal Screws (14.8 mm)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2912341222928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Rear panel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25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2912341223184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Spring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2912341223248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Front of the latch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2912341223440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Latch Button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10 g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0F5FA"/>
                    </a:solidFill>
                  </a:tcPr>
                </a:tc>
              </a:tr>
              <a:tr h="470916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2912333898256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14213D"/>
                          </a:solidFill>
                          <a:latin typeface="Aptos"/>
                        </a:rPr>
                        <a:t>Handle without latch and button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97 g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1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14213D"/>
                          </a:solidFill>
                          <a:latin typeface="Aptos"/>
                        </a:rPr>
                        <a:t>—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Air fryer Philips HD9252 (4500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tray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HD9252 (3000 g)
• Basket (400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HD9252 (3000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 each of the eight tabs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Plastic cover (8 hooks) (120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without cover (2880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(2880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unscrew(JIS #1)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Angular screw (12.4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Body without cover (2872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Body without cover (2872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lift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(2622 g)
• Top (250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(2622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Transformer screws (39.5 mm) (10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unscrewed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unscrewed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top piece (40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without top piece (2612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top piece (2612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brown and white wire attached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Disconnect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Cables (brown and white) (20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Inferior body without cables (2592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6 · Color: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Inferior body without cables (2592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extract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Transformer (600 g)
• Inferior body without transformer (1992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Top (250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Insert a nylon spudger underneath the top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Leverage the tool and pop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board (30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Top without panel (220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Top without panel (220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 the motherboard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Top without motherboard (170 g)
• Motherboard Touch Screen (50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Basket (400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No separate output component encoded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Tray with handle (250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Tray with handle (250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 4 scres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2 Top Screws (14.8 mm) (4 g)
• Tray (100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(150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(150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unscrew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4 Frontal Screws (14.8 mm) (8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screws (142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2 · Color: 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screws (142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pry out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Rear panel (25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panel (127 g)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 the pring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panel (127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push the spring down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337560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355848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53312" y="3319272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slide the spring out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Spring (10 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• Handle without spring (117 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9184"/>
            <a:ext cx="5303520" cy="2560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ACTION GROUP 16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40080"/>
            <a:ext cx="1097280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88720"/>
            <a:ext cx="109728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ptos"/>
              </a:rPr>
              <a:t>Atomic actions are grouped under their parent disassembly operation.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54480"/>
            <a:ext cx="10972800" cy="438912"/>
          </a:xfrm>
          <a:prstGeom prst="roundRect">
            <a:avLst>
              <a:gd name="adj" fmla="val 8000"/>
            </a:avLst>
          </a:prstGeom>
          <a:solidFill>
            <a:srgbClr val="DFF5F4"/>
          </a:solidFill>
          <a:ln>
            <a:solidFill>
              <a:srgbClr val="DF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64208"/>
            <a:ext cx="8229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4213D"/>
                </a:solidFill>
                <a:latin typeface="Aptos"/>
              </a:rPr>
              <a:t>Source: Handle without spring (117 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64040" y="1664208"/>
            <a:ext cx="17830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explicit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194560"/>
            <a:ext cx="681228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45059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ATOMIC 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816352"/>
            <a:ext cx="347472" cy="347472"/>
          </a:xfrm>
          <a:prstGeom prst="roundRect">
            <a:avLst>
              <a:gd name="adj" fmla="val 8000"/>
            </a:avLst>
          </a:prstGeom>
          <a:solidFill>
            <a:srgbClr val="19A7A0"/>
          </a:solidFill>
          <a:ln>
            <a:solidFill>
              <a:srgbClr val="19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834640"/>
            <a:ext cx="34747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3312" y="2798064"/>
            <a:ext cx="5715000" cy="47548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4213D"/>
                </a:solidFill>
                <a:latin typeface="Aptos"/>
              </a:rPr>
              <a:t>remove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2194560"/>
            <a:ext cx="3931920" cy="397763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39572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9A7A0"/>
                </a:solidFill>
                <a:latin typeface="Aptos"/>
              </a:rPr>
              <a:t>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697480"/>
            <a:ext cx="3474720" cy="11887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4213D"/>
                </a:solidFill>
                <a:latin typeface="Aptos"/>
              </a:rPr>
              <a:t>• Front of the latch (10 g)
• Latch Button (10 g)
• Handle without latch and button (97 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02336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CONTINUES 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242816"/>
            <a:ext cx="3474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End of this branch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800600"/>
            <a:ext cx="3474720" cy="182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19A7A0"/>
                </a:solidFill>
                <a:latin typeface="Aptos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5010912"/>
            <a:ext cx="3474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4213D"/>
                </a:solidFill>
                <a:latin typeface="Aptos"/>
              </a:rPr>
              <a:t>No tools specified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5843016"/>
            <a:ext cx="34747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Material: 1 · Color: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2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34440"/>
            <a:ext cx="475488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9A7A0"/>
                </a:solidFill>
                <a:latin typeface="Aptos"/>
              </a:rPr>
              <a:t>EXPORT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28800"/>
            <a:ext cx="96012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ptos"/>
              </a:rPr>
              <a:t>16 action groups prepared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971800"/>
            <a:ext cx="969264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The PowerPoint remains fully editable: text, tables, images and component information can be revised after export.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800600"/>
            <a:ext cx="4937760" cy="777240"/>
          </a:xfrm>
          <a:prstGeom prst="roundRect">
            <a:avLst>
              <a:gd name="adj" fmla="val 8000"/>
            </a:avLst>
          </a:prstGeom>
          <a:solidFill>
            <a:srgbClr val="1E3450"/>
          </a:solidFill>
          <a:ln>
            <a:solidFill>
              <a:srgbClr val="1E3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5029200"/>
            <a:ext cx="4480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9A7A0"/>
                </a:solidFill>
                <a:latin typeface="Aptos"/>
              </a:rPr>
              <a:t>Air fryer Philips HD9252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6547104"/>
            <a:ext cx="8686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64748B"/>
                </a:solidFill>
                <a:latin typeface="Aptos"/>
              </a:rPr>
              <a:t>Air fryer Philips HD9252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547104"/>
            <a:ext cx="731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Aptos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