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238"/>
        </a:solidFill>
        <a:effectLst/>
      </p:bgPr>
    </p:bg>
    <p:spTree>
      <p:nvGrpSpPr>
        <p:cNvPr id="1" name=""/>
        <p:cNvGrpSpPr/>
        <p:nvPr/>
      </p:nvGrpSpPr>
      <p:grpSpPr/>
      <p:sp>
        <p:nvSpPr>
          <p:cNvPr id="2" name="Rectangle 1"/>
          <p:cNvSpPr/>
          <p:nvPr/>
        </p:nvSpPr>
        <p:spPr>
          <a:xfrm>
            <a:off x="0" y="0"/>
            <a:ext cx="164592" cy="6839712"/>
          </a:xfrm>
          <a:prstGeom prst="rect">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85800"/>
            <a:ext cx="4572000" cy="320040"/>
          </a:xfrm>
          <a:prstGeom prst="rect">
            <a:avLst/>
          </a:prstGeom>
          <a:noFill/>
        </p:spPr>
        <p:txBody>
          <a:bodyPr wrap="square" lIns="27432" rIns="27432" tIns="27432" bIns="27432" anchor="t">
            <a:spAutoFit/>
          </a:bodyPr>
          <a:lstStyle/>
          <a:p>
            <a:pPr algn="l">
              <a:spcAft>
                <a:spcPts val="0"/>
              </a:spcAft>
            </a:pPr>
            <a:r>
              <a:rPr sz="1200" b="1">
                <a:solidFill>
                  <a:srgbClr val="19A7A0"/>
                </a:solidFill>
                <a:latin typeface="Aptos"/>
              </a:rPr>
              <a:t>FUTURDATA THESIS</a:t>
            </a:r>
          </a:p>
        </p:txBody>
      </p:sp>
      <p:sp>
        <p:nvSpPr>
          <p:cNvPr id="4" name="TextBox 3"/>
          <p:cNvSpPr txBox="1"/>
          <p:nvPr/>
        </p:nvSpPr>
        <p:spPr>
          <a:xfrm>
            <a:off x="777240" y="1234440"/>
            <a:ext cx="6858000" cy="731520"/>
          </a:xfrm>
          <a:prstGeom prst="rect">
            <a:avLst/>
          </a:prstGeom>
          <a:noFill/>
        </p:spPr>
        <p:txBody>
          <a:bodyPr wrap="square" lIns="27432" rIns="27432" tIns="27432" bIns="27432" anchor="t">
            <a:spAutoFit/>
          </a:bodyPr>
          <a:lstStyle/>
          <a:p>
            <a:pPr algn="l">
              <a:spcAft>
                <a:spcPts val="0"/>
              </a:spcAft>
            </a:pPr>
            <a:r>
              <a:rPr sz="3800" b="1">
                <a:solidFill>
                  <a:srgbClr val="FFFFFF"/>
                </a:solidFill>
                <a:latin typeface="Aptos"/>
              </a:rPr>
              <a:t>Disassembly Guide</a:t>
            </a:r>
          </a:p>
        </p:txBody>
      </p:sp>
      <p:sp>
        <p:nvSpPr>
          <p:cNvPr id="5" name="TextBox 4"/>
          <p:cNvSpPr txBox="1"/>
          <p:nvPr/>
        </p:nvSpPr>
        <p:spPr>
          <a:xfrm>
            <a:off x="777240" y="2057400"/>
            <a:ext cx="6858000" cy="1051560"/>
          </a:xfrm>
          <a:prstGeom prst="rect">
            <a:avLst/>
          </a:prstGeom>
          <a:noFill/>
        </p:spPr>
        <p:txBody>
          <a:bodyPr wrap="square" lIns="27432" rIns="27432" tIns="27432" bIns="27432" anchor="t">
            <a:spAutoFit/>
          </a:bodyPr>
          <a:lstStyle/>
          <a:p>
            <a:pPr algn="l">
              <a:spcAft>
                <a:spcPts val="0"/>
              </a:spcAft>
            </a:pPr>
            <a:r>
              <a:rPr sz="2600" b="0">
                <a:solidFill>
                  <a:srgbClr val="FFFFFF"/>
                </a:solidFill>
                <a:latin typeface="Aptos"/>
              </a:rPr>
              <a:t>Dishwasher LG LDF5545ST</a:t>
            </a:r>
          </a:p>
        </p:txBody>
      </p:sp>
      <p:sp>
        <p:nvSpPr>
          <p:cNvPr id="6" name="TextBox 5"/>
          <p:cNvSpPr txBox="1"/>
          <p:nvPr/>
        </p:nvSpPr>
        <p:spPr>
          <a:xfrm>
            <a:off x="777240" y="3383280"/>
            <a:ext cx="6858000" cy="548640"/>
          </a:xfrm>
          <a:prstGeom prst="rect">
            <a:avLst/>
          </a:prstGeom>
          <a:noFill/>
        </p:spPr>
        <p:txBody>
          <a:bodyPr wrap="square" lIns="27432" rIns="27432" tIns="27432" bIns="27432" anchor="t">
            <a:spAutoFit/>
          </a:bodyPr>
          <a:lstStyle/>
          <a:p>
            <a:pPr algn="l">
              <a:spcAft>
                <a:spcPts val="0"/>
              </a:spcAft>
            </a:pPr>
            <a:r>
              <a:rPr sz="1400" b="0">
                <a:solidFill>
                  <a:srgbClr val="C7D4E3"/>
                </a:solidFill>
                <a:latin typeface="Aptos"/>
              </a:rPr>
              <a:t>PPTX export • 6 action group(s) • depth: DepthMode.FULL • schema 1.1</a:t>
            </a:r>
          </a:p>
        </p:txBody>
      </p:sp>
      <p:sp>
        <p:nvSpPr>
          <p:cNvPr id="7" name="Rounded Rectangle 6"/>
          <p:cNvSpPr/>
          <p:nvPr/>
        </p:nvSpPr>
        <p:spPr>
          <a:xfrm>
            <a:off x="777240" y="4892040"/>
            <a:ext cx="3474720" cy="731520"/>
          </a:xfrm>
          <a:prstGeom prst="roundRect">
            <a:avLst>
              <a:gd name="adj" fmla="val 8000"/>
            </a:avLst>
          </a:prstGeom>
          <a:solidFill>
            <a:srgbClr val="1E3450"/>
          </a:solidFill>
          <a:ln>
            <a:solidFill>
              <a:srgbClr val="1E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5102352"/>
            <a:ext cx="2971800" cy="274320"/>
          </a:xfrm>
          <a:prstGeom prst="rect">
            <a:avLst/>
          </a:prstGeom>
          <a:noFill/>
        </p:spPr>
        <p:txBody>
          <a:bodyPr wrap="square" lIns="27432" rIns="27432" tIns="27432" bIns="27432" anchor="t">
            <a:spAutoFit/>
          </a:bodyPr>
          <a:lstStyle/>
          <a:p>
            <a:pPr algn="l">
              <a:spcAft>
                <a:spcPts val="0"/>
              </a:spcAft>
            </a:pPr>
            <a:r>
              <a:rPr sz="1300" b="1">
                <a:solidFill>
                  <a:srgbClr val="FFFFFF"/>
                </a:solidFill>
                <a:latin typeface="Aptos"/>
              </a:rPr>
              <a:t>Nominal weight  Unknown</a:t>
            </a:r>
          </a:p>
        </p:txBody>
      </p:sp>
      <p:sp>
        <p:nvSpPr>
          <p:cNvPr id="9" name="Rounded Rectangle 8"/>
          <p:cNvSpPr/>
          <p:nvPr/>
        </p:nvSpPr>
        <p:spPr>
          <a:xfrm>
            <a:off x="8366760" y="1143000"/>
            <a:ext cx="2880360" cy="4434840"/>
          </a:xfrm>
          <a:prstGeom prst="roundRect">
            <a:avLst>
              <a:gd name="adj" fmla="val 8000"/>
            </a:avLst>
          </a:prstGeom>
          <a:solidFill>
            <a:srgbClr val="1E3450"/>
          </a:solidFill>
          <a:ln>
            <a:solidFill>
              <a:srgbClr val="34516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2697480"/>
            <a:ext cx="2148840" cy="914400"/>
          </a:xfrm>
          <a:prstGeom prst="rect">
            <a:avLst/>
          </a:prstGeom>
          <a:noFill/>
        </p:spPr>
        <p:txBody>
          <a:bodyPr wrap="square" lIns="27432" rIns="27432" tIns="27432" bIns="27432" anchor="ctr">
            <a:spAutoFit/>
          </a:bodyPr>
          <a:lstStyle/>
          <a:p>
            <a:pPr algn="ctr">
              <a:spcAft>
                <a:spcPts val="0"/>
              </a:spcAft>
            </a:pPr>
            <a:r>
              <a:rPr sz="2000" b="1">
                <a:solidFill>
                  <a:srgbClr val="7B92AB"/>
                </a:solidFill>
                <a:latin typeface="Aptos"/>
              </a:rPr>
              <a:t>PRODUCT
IMAGE</a:t>
            </a:r>
          </a:p>
        </p:txBody>
      </p:sp>
      <p:sp>
        <p:nvSpPr>
          <p:cNvPr id="11" name="TextBox 10"/>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12" name="TextBox 11"/>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PROJECT OVERVIEW</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Export scope and model summary</a:t>
            </a:r>
          </a:p>
        </p:txBody>
      </p:sp>
      <p:sp>
        <p:nvSpPr>
          <p:cNvPr id="4" name="Rounded Rectangle 3"/>
          <p:cNvSpPr/>
          <p:nvPr/>
        </p:nvSpPr>
        <p:spPr>
          <a:xfrm>
            <a:off x="594360" y="1783080"/>
            <a:ext cx="251460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975104"/>
            <a:ext cx="2103120" cy="22860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PRODUCT ID</a:t>
            </a:r>
          </a:p>
        </p:txBody>
      </p:sp>
      <p:sp>
        <p:nvSpPr>
          <p:cNvPr id="6" name="TextBox 5"/>
          <p:cNvSpPr txBox="1"/>
          <p:nvPr/>
        </p:nvSpPr>
        <p:spPr>
          <a:xfrm>
            <a:off x="795528" y="2286000"/>
            <a:ext cx="2103120" cy="411480"/>
          </a:xfrm>
          <a:prstGeom prst="rect">
            <a:avLst/>
          </a:prstGeom>
          <a:noFill/>
        </p:spPr>
        <p:txBody>
          <a:bodyPr wrap="square" lIns="27432" rIns="27432" tIns="27432" bIns="27432" anchor="t">
            <a:spAutoFit/>
          </a:bodyPr>
          <a:lstStyle/>
          <a:p>
            <a:pPr algn="l">
              <a:spcAft>
                <a:spcPts val="0"/>
              </a:spcAft>
            </a:pPr>
            <a:r>
              <a:rPr sz="2400" b="1">
                <a:solidFill>
                  <a:srgbClr val="14213D"/>
                </a:solidFill>
                <a:latin typeface="Aptos"/>
              </a:rPr>
              <a:t>1748441966736</a:t>
            </a:r>
          </a:p>
        </p:txBody>
      </p:sp>
      <p:sp>
        <p:nvSpPr>
          <p:cNvPr id="7" name="Rounded Rectangle 6"/>
          <p:cNvSpPr/>
          <p:nvPr/>
        </p:nvSpPr>
        <p:spPr>
          <a:xfrm>
            <a:off x="3410712" y="1783080"/>
            <a:ext cx="251460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975104"/>
            <a:ext cx="2103120" cy="22860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ACTION GROUPS</a:t>
            </a:r>
          </a:p>
        </p:txBody>
      </p:sp>
      <p:sp>
        <p:nvSpPr>
          <p:cNvPr id="9" name="TextBox 8"/>
          <p:cNvSpPr txBox="1"/>
          <p:nvPr/>
        </p:nvSpPr>
        <p:spPr>
          <a:xfrm>
            <a:off x="3611880" y="2286000"/>
            <a:ext cx="2103120" cy="411480"/>
          </a:xfrm>
          <a:prstGeom prst="rect">
            <a:avLst/>
          </a:prstGeom>
          <a:noFill/>
        </p:spPr>
        <p:txBody>
          <a:bodyPr wrap="square" lIns="27432" rIns="27432" tIns="27432" bIns="27432" anchor="t">
            <a:spAutoFit/>
          </a:bodyPr>
          <a:lstStyle/>
          <a:p>
            <a:pPr algn="l">
              <a:spcAft>
                <a:spcPts val="0"/>
              </a:spcAft>
            </a:pPr>
            <a:r>
              <a:rPr sz="2400" b="1">
                <a:solidFill>
                  <a:srgbClr val="14213D"/>
                </a:solidFill>
                <a:latin typeface="Aptos"/>
              </a:rPr>
              <a:t>6</a:t>
            </a:r>
          </a:p>
        </p:txBody>
      </p:sp>
      <p:sp>
        <p:nvSpPr>
          <p:cNvPr id="10" name="Rounded Rectangle 9"/>
          <p:cNvSpPr/>
          <p:nvPr/>
        </p:nvSpPr>
        <p:spPr>
          <a:xfrm>
            <a:off x="6227064" y="1783080"/>
            <a:ext cx="251460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8232" y="1975104"/>
            <a:ext cx="2103120" cy="22860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BOM COMPONENTS</a:t>
            </a:r>
          </a:p>
        </p:txBody>
      </p:sp>
      <p:sp>
        <p:nvSpPr>
          <p:cNvPr id="12" name="TextBox 11"/>
          <p:cNvSpPr txBox="1"/>
          <p:nvPr/>
        </p:nvSpPr>
        <p:spPr>
          <a:xfrm>
            <a:off x="6428232" y="2286000"/>
            <a:ext cx="2103120" cy="411480"/>
          </a:xfrm>
          <a:prstGeom prst="rect">
            <a:avLst/>
          </a:prstGeom>
          <a:noFill/>
        </p:spPr>
        <p:txBody>
          <a:bodyPr wrap="square" lIns="27432" rIns="27432" tIns="27432" bIns="27432" anchor="t">
            <a:spAutoFit/>
          </a:bodyPr>
          <a:lstStyle/>
          <a:p>
            <a:pPr algn="l">
              <a:spcAft>
                <a:spcPts val="0"/>
              </a:spcAft>
            </a:pPr>
            <a:r>
              <a:rPr sz="2400" b="1">
                <a:solidFill>
                  <a:srgbClr val="14213D"/>
                </a:solidFill>
                <a:latin typeface="Aptos"/>
              </a:rPr>
              <a:t>7</a:t>
            </a:r>
          </a:p>
        </p:txBody>
      </p:sp>
      <p:sp>
        <p:nvSpPr>
          <p:cNvPr id="13" name="Rounded Rectangle 12"/>
          <p:cNvSpPr/>
          <p:nvPr/>
        </p:nvSpPr>
        <p:spPr>
          <a:xfrm>
            <a:off x="9043416" y="1783080"/>
            <a:ext cx="2514600" cy="114300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44584" y="1975104"/>
            <a:ext cx="2103120" cy="22860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VALIDATION ISSUES</a:t>
            </a:r>
          </a:p>
        </p:txBody>
      </p:sp>
      <p:sp>
        <p:nvSpPr>
          <p:cNvPr id="15" name="TextBox 14"/>
          <p:cNvSpPr txBox="1"/>
          <p:nvPr/>
        </p:nvSpPr>
        <p:spPr>
          <a:xfrm>
            <a:off x="9244584" y="2286000"/>
            <a:ext cx="2103120" cy="411480"/>
          </a:xfrm>
          <a:prstGeom prst="rect">
            <a:avLst/>
          </a:prstGeom>
          <a:noFill/>
        </p:spPr>
        <p:txBody>
          <a:bodyPr wrap="square" lIns="27432" rIns="27432" tIns="27432" bIns="27432" anchor="t">
            <a:spAutoFit/>
          </a:bodyPr>
          <a:lstStyle/>
          <a:p>
            <a:pPr algn="l">
              <a:spcAft>
                <a:spcPts val="0"/>
              </a:spcAft>
            </a:pPr>
            <a:r>
              <a:rPr sz="2400" b="1">
                <a:solidFill>
                  <a:srgbClr val="14213D"/>
                </a:solidFill>
                <a:latin typeface="Aptos"/>
              </a:rPr>
              <a:t>5</a:t>
            </a:r>
          </a:p>
        </p:txBody>
      </p:sp>
      <p:sp>
        <p:nvSpPr>
          <p:cNvPr id="16" name="Rounded Rectangle 15"/>
          <p:cNvSpPr/>
          <p:nvPr/>
        </p:nvSpPr>
        <p:spPr>
          <a:xfrm>
            <a:off x="594360" y="3246120"/>
            <a:ext cx="5440680" cy="246888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502152"/>
            <a:ext cx="22860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PRODUCT DATA</a:t>
            </a:r>
          </a:p>
        </p:txBody>
      </p:sp>
      <p:sp>
        <p:nvSpPr>
          <p:cNvPr id="18" name="TextBox 17"/>
          <p:cNvSpPr txBox="1"/>
          <p:nvPr/>
        </p:nvSpPr>
        <p:spPr>
          <a:xfrm>
            <a:off x="868680" y="3822191"/>
            <a:ext cx="4846320" cy="1600200"/>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Name: Dishwasher LG LDF5545ST
Weight: Unknown
Material: Unknown
Color: Unknown
Depth mode: DepthMode.FULL</a:t>
            </a:r>
          </a:p>
        </p:txBody>
      </p:sp>
      <p:sp>
        <p:nvSpPr>
          <p:cNvPr id="19" name="Rounded Rectangle 18"/>
          <p:cNvSpPr/>
          <p:nvPr/>
        </p:nvSpPr>
        <p:spPr>
          <a:xfrm>
            <a:off x="6263640" y="3246120"/>
            <a:ext cx="5321808" cy="246888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502152"/>
            <a:ext cx="256032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EXPORT BEHAVIOUR</a:t>
            </a:r>
          </a:p>
        </p:txBody>
      </p:sp>
      <p:sp>
        <p:nvSpPr>
          <p:cNvPr id="21" name="TextBox 20"/>
          <p:cNvSpPr txBox="1"/>
          <p:nvPr/>
        </p:nvSpPr>
        <p:spPr>
          <a:xfrm>
            <a:off x="6537960" y="3822191"/>
            <a:ext cx="4617720" cy="1600200"/>
          </a:xfrm>
          <a:prstGeom prst="rect">
            <a:avLst/>
          </a:prstGeom>
          <a:noFill/>
        </p:spPr>
        <p:txBody>
          <a:bodyPr wrap="square" lIns="27432" rIns="27432" tIns="27432" bIns="27432" anchor="t">
            <a:spAutoFit/>
          </a:bodyPr>
          <a:lstStyle/>
          <a:p>
            <a:pPr algn="l">
              <a:spcAft>
                <a:spcPts val="0"/>
              </a:spcAft>
            </a:pPr>
            <a:r>
              <a:rPr sz="1300" b="0">
                <a:solidFill>
                  <a:srgbClr val="14213D"/>
                </a:solidFill>
                <a:latin typeface="Aptos"/>
              </a:rPr>
              <a:t>• Parent operation and atomic actions stay grouped.
• Output components and remaining assembly are shown.
• Text and images remain editable in PowerPoint.
• Unknown branch sources are never guessed.
• Source JSON is opened read-only and never modified.</a:t>
            </a:r>
          </a:p>
        </p:txBody>
      </p:sp>
      <p:sp>
        <p:nvSpPr>
          <p:cNvPr id="22" name="TextBox 21"/>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23" name="TextBox 22"/>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VALIDATION</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Model warnings and errors</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Each issue is localized to the corresponding JSON element when possible.</a:t>
            </a:r>
          </a:p>
        </p:txBody>
      </p:sp>
      <p:sp>
        <p:nvSpPr>
          <p:cNvPr id="5" name="Rounded Rectangle 4"/>
          <p:cNvSpPr/>
          <p:nvPr/>
        </p:nvSpPr>
        <p:spPr>
          <a:xfrm>
            <a:off x="594360" y="1783080"/>
            <a:ext cx="109728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783080"/>
            <a:ext cx="109728" cy="6583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92807"/>
            <a:ext cx="2834640" cy="201168"/>
          </a:xfrm>
          <a:prstGeom prst="rect">
            <a:avLst/>
          </a:prstGeom>
          <a:noFill/>
        </p:spPr>
        <p:txBody>
          <a:bodyPr wrap="square" lIns="27432" rIns="27432" tIns="27432" bIns="27432" anchor="t">
            <a:spAutoFit/>
          </a:bodyPr>
          <a:lstStyle/>
          <a:p>
            <a:pPr algn="l">
              <a:spcAft>
                <a:spcPts val="0"/>
              </a:spcAft>
            </a:pPr>
            <a:r>
              <a:rPr sz="1000" b="1">
                <a:solidFill>
                  <a:srgbClr val="F59E0B"/>
                </a:solidFill>
                <a:latin typeface="Aptos"/>
              </a:rPr>
              <a:t>SEVERITY.WARNING · no_orphans</a:t>
            </a:r>
          </a:p>
        </p:txBody>
      </p:sp>
      <p:sp>
        <p:nvSpPr>
          <p:cNvPr id="8" name="TextBox 7"/>
          <p:cNvSpPr txBox="1"/>
          <p:nvPr/>
        </p:nvSpPr>
        <p:spPr>
          <a:xfrm>
            <a:off x="2971800" y="1874519"/>
            <a:ext cx="7223760" cy="292608"/>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Nodes [1748544102736] are disconnected (no edges) and will not appear in the disassembly procedure.</a:t>
            </a:r>
          </a:p>
        </p:txBody>
      </p:sp>
      <p:sp>
        <p:nvSpPr>
          <p:cNvPr id="9" name="TextBox 8"/>
          <p:cNvSpPr txBox="1"/>
          <p:nvPr/>
        </p:nvSpPr>
        <p:spPr>
          <a:xfrm>
            <a:off x="2971800" y="2176272"/>
            <a:ext cx="7955279"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Location: node_ids=[1748544102736]</a:t>
            </a:r>
          </a:p>
        </p:txBody>
      </p:sp>
      <p:sp>
        <p:nvSpPr>
          <p:cNvPr id="10" name="Rounded Rectangle 9"/>
          <p:cNvSpPr/>
          <p:nvPr/>
        </p:nvSpPr>
        <p:spPr>
          <a:xfrm>
            <a:off x="594360" y="2532888"/>
            <a:ext cx="109728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532888"/>
            <a:ext cx="109728" cy="6583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642616"/>
            <a:ext cx="2834640" cy="201168"/>
          </a:xfrm>
          <a:prstGeom prst="rect">
            <a:avLst/>
          </a:prstGeom>
          <a:noFill/>
        </p:spPr>
        <p:txBody>
          <a:bodyPr wrap="square" lIns="27432" rIns="27432" tIns="27432" bIns="27432" anchor="t">
            <a:spAutoFit/>
          </a:bodyPr>
          <a:lstStyle/>
          <a:p>
            <a:pPr algn="l">
              <a:spcAft>
                <a:spcPts val="0"/>
              </a:spcAft>
            </a:pPr>
            <a:r>
              <a:rPr sz="1000" b="1">
                <a:solidFill>
                  <a:srgbClr val="F59E0B"/>
                </a:solidFill>
                <a:latin typeface="Aptos"/>
              </a:rPr>
              <a:t>SEVERITY.WARNING · action_degree</a:t>
            </a:r>
          </a:p>
        </p:txBody>
      </p:sp>
      <p:sp>
        <p:nvSpPr>
          <p:cNvPr id="13" name="TextBox 12"/>
          <p:cNvSpPr txBox="1"/>
          <p:nvPr/>
        </p:nvSpPr>
        <p:spPr>
          <a:xfrm>
            <a:off x="2971800" y="2624328"/>
            <a:ext cx="7223760" cy="292608"/>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Action node 1748543878416 has in-degree 1 and out-degree 3; an action circle must have at most one of each (it is an atomic sub-step, not a fan-out hub).</a:t>
            </a:r>
          </a:p>
        </p:txBody>
      </p:sp>
      <p:sp>
        <p:nvSpPr>
          <p:cNvPr id="14" name="TextBox 13"/>
          <p:cNvSpPr txBox="1"/>
          <p:nvPr/>
        </p:nvSpPr>
        <p:spPr>
          <a:xfrm>
            <a:off x="2971800" y="2926080"/>
            <a:ext cx="7955279"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Location: node_ids=[1748543878416]</a:t>
            </a:r>
          </a:p>
        </p:txBody>
      </p:sp>
      <p:sp>
        <p:nvSpPr>
          <p:cNvPr id="15" name="Rounded Rectangle 14"/>
          <p:cNvSpPr/>
          <p:nvPr/>
        </p:nvSpPr>
        <p:spPr>
          <a:xfrm>
            <a:off x="594360" y="3282696"/>
            <a:ext cx="109728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282696"/>
            <a:ext cx="109728" cy="6583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392424"/>
            <a:ext cx="2834640" cy="201168"/>
          </a:xfrm>
          <a:prstGeom prst="rect">
            <a:avLst/>
          </a:prstGeom>
          <a:noFill/>
        </p:spPr>
        <p:txBody>
          <a:bodyPr wrap="square" lIns="27432" rIns="27432" tIns="27432" bIns="27432" anchor="t">
            <a:spAutoFit/>
          </a:bodyPr>
          <a:lstStyle/>
          <a:p>
            <a:pPr algn="l">
              <a:spcAft>
                <a:spcPts val="0"/>
              </a:spcAft>
            </a:pPr>
            <a:r>
              <a:rPr sz="1000" b="1">
                <a:solidFill>
                  <a:srgbClr val="F59E0B"/>
                </a:solidFill>
                <a:latin typeface="Aptos"/>
              </a:rPr>
              <a:t>SEVERITY.WARNING · composite_single_continuation</a:t>
            </a:r>
          </a:p>
        </p:txBody>
      </p:sp>
      <p:sp>
        <p:nvSpPr>
          <p:cNvPr id="18" name="TextBox 17"/>
          <p:cNvSpPr txBox="1"/>
          <p:nvPr/>
        </p:nvSpPr>
        <p:spPr>
          <a:xfrm>
            <a:off x="2971800" y="3374136"/>
            <a:ext cx="7223760" cy="292608"/>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Component 1748544382608 continues into 2 operations [1748544431056, 1748544435216]; a composite must be decomposed by a single successive operation (extract one part, the rest continues), not several in parallel.</a:t>
            </a:r>
          </a:p>
        </p:txBody>
      </p:sp>
      <p:sp>
        <p:nvSpPr>
          <p:cNvPr id="19" name="TextBox 18"/>
          <p:cNvSpPr txBox="1"/>
          <p:nvPr/>
        </p:nvSpPr>
        <p:spPr>
          <a:xfrm>
            <a:off x="2971800" y="3675887"/>
            <a:ext cx="7955279"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Location: node_ids=[1748544382608, 1748544431056, 1748544435216]</a:t>
            </a:r>
          </a:p>
        </p:txBody>
      </p:sp>
      <p:sp>
        <p:nvSpPr>
          <p:cNvPr id="20" name="Rounded Rectangle 19"/>
          <p:cNvSpPr/>
          <p:nvPr/>
        </p:nvSpPr>
        <p:spPr>
          <a:xfrm>
            <a:off x="594360" y="4032504"/>
            <a:ext cx="109728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94360" y="4032504"/>
            <a:ext cx="109728" cy="6583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142232"/>
            <a:ext cx="2834640" cy="201168"/>
          </a:xfrm>
          <a:prstGeom prst="rect">
            <a:avLst/>
          </a:prstGeom>
          <a:noFill/>
        </p:spPr>
        <p:txBody>
          <a:bodyPr wrap="square" lIns="27432" rIns="27432" tIns="27432" bIns="27432" anchor="t">
            <a:spAutoFit/>
          </a:bodyPr>
          <a:lstStyle/>
          <a:p>
            <a:pPr algn="l">
              <a:spcAft>
                <a:spcPts val="0"/>
              </a:spcAft>
            </a:pPr>
            <a:r>
              <a:rPr sz="1000" b="1">
                <a:solidFill>
                  <a:srgbClr val="F59E0B"/>
                </a:solidFill>
                <a:latin typeface="Aptos"/>
              </a:rPr>
              <a:t>SEVERITY.INFO · mass_balance</a:t>
            </a:r>
          </a:p>
        </p:txBody>
      </p:sp>
      <p:sp>
        <p:nvSpPr>
          <p:cNvPr id="23" name="TextBox 22"/>
          <p:cNvSpPr txBox="1"/>
          <p:nvPr/>
        </p:nvSpPr>
        <p:spPr>
          <a:xfrm>
            <a:off x="2971800" y="4123944"/>
            <a:ext cx="7223760" cy="292608"/>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Mass balance not verifiable: the product has no weight; 17 component(s) have no weight.</a:t>
            </a:r>
          </a:p>
        </p:txBody>
      </p:sp>
      <p:sp>
        <p:nvSpPr>
          <p:cNvPr id="24" name="TextBox 23"/>
          <p:cNvSpPr txBox="1"/>
          <p:nvPr/>
        </p:nvSpPr>
        <p:spPr>
          <a:xfrm>
            <a:off x="2971800" y="4425696"/>
            <a:ext cx="7955279"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Location: node_ids=[1748487669392, 1748543878800, 1748544094992, 1748544103120, 1748544103184, 1748544374352, 1748544383760, 1748544388944, 1748544426896, 1748544428944, 1748544431120, 1748544431888, 1748544434448, 1748544541072, 1748544541648, 1748544544848, 1748544545360]</a:t>
            </a:r>
          </a:p>
        </p:txBody>
      </p:sp>
      <p:sp>
        <p:nvSpPr>
          <p:cNvPr id="25" name="Rounded Rectangle 24"/>
          <p:cNvSpPr/>
          <p:nvPr/>
        </p:nvSpPr>
        <p:spPr>
          <a:xfrm>
            <a:off x="594360" y="4782312"/>
            <a:ext cx="10972800" cy="658368"/>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4782312"/>
            <a:ext cx="109728" cy="658368"/>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892040"/>
            <a:ext cx="2834640" cy="201168"/>
          </a:xfrm>
          <a:prstGeom prst="rect">
            <a:avLst/>
          </a:prstGeom>
          <a:noFill/>
        </p:spPr>
        <p:txBody>
          <a:bodyPr wrap="square" lIns="27432" rIns="27432" tIns="27432" bIns="27432" anchor="t">
            <a:spAutoFit/>
          </a:bodyPr>
          <a:lstStyle/>
          <a:p>
            <a:pPr algn="l">
              <a:spcAft>
                <a:spcPts val="0"/>
              </a:spcAft>
            </a:pPr>
            <a:r>
              <a:rPr sz="1000" b="1">
                <a:solidFill>
                  <a:srgbClr val="F59E0B"/>
                </a:solidFill>
                <a:latin typeface="Aptos"/>
              </a:rPr>
              <a:t>WARNING · images</a:t>
            </a:r>
          </a:p>
        </p:txBody>
      </p:sp>
      <p:sp>
        <p:nvSpPr>
          <p:cNvPr id="28" name="TextBox 27"/>
          <p:cNvSpPr txBox="1"/>
          <p:nvPr/>
        </p:nvSpPr>
        <p:spPr>
          <a:xfrm>
            <a:off x="2971800" y="4873752"/>
            <a:ext cx="7223760" cy="292608"/>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Image file not found: images/lowercoverremovescrews.jpg</a:t>
            </a:r>
          </a:p>
        </p:txBody>
      </p:sp>
      <p:sp>
        <p:nvSpPr>
          <p:cNvPr id="29" name="TextBox 28"/>
          <p:cNvSpPr txBox="1"/>
          <p:nvPr/>
        </p:nvSpPr>
        <p:spPr>
          <a:xfrm>
            <a:off x="2971800" y="5175504"/>
            <a:ext cx="7955279"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Location: steps[0].actions[0].image</a:t>
            </a:r>
          </a:p>
        </p:txBody>
      </p:sp>
      <p:sp>
        <p:nvSpPr>
          <p:cNvPr id="30" name="TextBox 29"/>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31" name="TextBox 30"/>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PREPARATION</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Tools and safety notices</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Aggregated from step-level and atomic-action metadata.</a:t>
            </a:r>
          </a:p>
        </p:txBody>
      </p:sp>
      <p:sp>
        <p:nvSpPr>
          <p:cNvPr id="5" name="Rounded Rectangle 4"/>
          <p:cNvSpPr/>
          <p:nvPr/>
        </p:nvSpPr>
        <p:spPr>
          <a:xfrm>
            <a:off x="594360" y="1737360"/>
            <a:ext cx="5349240" cy="4434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3017520" cy="228600"/>
          </a:xfrm>
          <a:prstGeom prst="rect">
            <a:avLst/>
          </a:prstGeom>
          <a:noFill/>
        </p:spPr>
        <p:txBody>
          <a:bodyPr wrap="square" lIns="27432" rIns="27432" tIns="27432" bIns="27432" anchor="t">
            <a:spAutoFit/>
          </a:bodyPr>
          <a:lstStyle/>
          <a:p>
            <a:pPr algn="l">
              <a:spcAft>
                <a:spcPts val="0"/>
              </a:spcAft>
            </a:pPr>
            <a:r>
              <a:rPr sz="1100" b="1">
                <a:solidFill>
                  <a:srgbClr val="19A7A0"/>
                </a:solidFill>
                <a:latin typeface="Aptos"/>
              </a:rPr>
              <a:t>TOOLS REQUIRED</a:t>
            </a:r>
          </a:p>
        </p:txBody>
      </p:sp>
      <p:sp>
        <p:nvSpPr>
          <p:cNvPr id="7" name="TextBox 6"/>
          <p:cNvSpPr txBox="1"/>
          <p:nvPr/>
        </p:nvSpPr>
        <p:spPr>
          <a:xfrm>
            <a:off x="868680" y="2423160"/>
            <a:ext cx="4617720" cy="3337560"/>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 No tools are specified in this model.</a:t>
            </a:r>
          </a:p>
        </p:txBody>
      </p:sp>
      <p:sp>
        <p:nvSpPr>
          <p:cNvPr id="8" name="Rounded Rectangle 7"/>
          <p:cNvSpPr/>
          <p:nvPr/>
        </p:nvSpPr>
        <p:spPr>
          <a:xfrm>
            <a:off x="6217920" y="1737360"/>
            <a:ext cx="5349240" cy="44348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11680"/>
            <a:ext cx="3017520" cy="228600"/>
          </a:xfrm>
          <a:prstGeom prst="rect">
            <a:avLst/>
          </a:prstGeom>
          <a:noFill/>
        </p:spPr>
        <p:txBody>
          <a:bodyPr wrap="square" lIns="27432" rIns="27432" tIns="27432" bIns="27432" anchor="t">
            <a:spAutoFit/>
          </a:bodyPr>
          <a:lstStyle/>
          <a:p>
            <a:pPr algn="l">
              <a:spcAft>
                <a:spcPts val="0"/>
              </a:spcAft>
            </a:pPr>
            <a:r>
              <a:rPr sz="1100" b="1">
                <a:solidFill>
                  <a:srgbClr val="F59E0B"/>
                </a:solidFill>
                <a:latin typeface="Aptos"/>
              </a:rPr>
              <a:t>SAFETY NOTICES</a:t>
            </a:r>
          </a:p>
        </p:txBody>
      </p:sp>
      <p:sp>
        <p:nvSpPr>
          <p:cNvPr id="10" name="TextBox 9"/>
          <p:cNvSpPr txBox="1"/>
          <p:nvPr/>
        </p:nvSpPr>
        <p:spPr>
          <a:xfrm>
            <a:off x="6492240" y="2423160"/>
            <a:ext cx="4617720" cy="3337560"/>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 No safety notices are specified in this model.</a:t>
            </a:r>
          </a:p>
        </p:txBody>
      </p:sp>
      <p:sp>
        <p:nvSpPr>
          <p:cNvPr id="11" name="TextBox 10"/>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12" name="TextBox 11"/>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BILL OF MATERIALS</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Recovered components — page 1 of 1</a:t>
            </a:r>
          </a:p>
        </p:txBody>
      </p:sp>
      <p:graphicFrame>
        <p:nvGraphicFramePr>
          <p:cNvPr id="4" name="Table 3"/>
          <p:cNvGraphicFramePr>
            <a:graphicFrameLocks noGrp="1"/>
          </p:cNvGraphicFramePr>
          <p:nvPr/>
        </p:nvGraphicFramePr>
        <p:xfrm>
          <a:off x="502920" y="1572768"/>
          <a:ext cx="10789919" cy="4709160"/>
        </p:xfrm>
        <a:graphic>
          <a:graphicData uri="http://schemas.openxmlformats.org/drawingml/2006/table">
            <a:tbl>
              <a:tblPr firstRow="1" bandRow="1">
                <a:tableStyleId>{5C22544A-7EE6-4342-B048-85BDC9FD1C3A}</a:tableStyleId>
              </a:tblPr>
              <a:tblGrid>
                <a:gridCol w="640080"/>
                <a:gridCol w="3749039"/>
                <a:gridCol w="1051560"/>
                <a:gridCol w="1234440"/>
                <a:gridCol w="960120"/>
                <a:gridCol w="1508760"/>
                <a:gridCol w="1645920"/>
              </a:tblGrid>
              <a:tr h="588645">
                <a:tc>
                  <a:txBody>
                    <a:bodyPr wrap="square"/>
                    <a:lstStyle/>
                    <a:p>
                      <a:pPr>
                        <a:spcAft>
                          <a:spcPts val="0"/>
                        </a:spcAft>
                      </a:pPr>
                      <a:r>
                        <a:rPr sz="1000" b="1">
                          <a:solidFill>
                            <a:srgbClr val="FFFFFF"/>
                          </a:solidFill>
                          <a:latin typeface="Aptos"/>
                        </a:rPr>
                        <a:t>ID</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Component</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Weight</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Material</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Color</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Quality</a:t>
                      </a:r>
                    </a:p>
                  </a:txBody>
                  <a:tcPr marL="64008" marR="64008" marT="36576" marB="36576">
                    <a:solidFill>
                      <a:srgbClr val="132238"/>
                    </a:solidFill>
                  </a:tcPr>
                </a:tc>
                <a:tc>
                  <a:txBody>
                    <a:bodyPr wrap="square"/>
                    <a:lstStyle/>
                    <a:p>
                      <a:pPr>
                        <a:spcAft>
                          <a:spcPts val="0"/>
                        </a:spcAft>
                      </a:pPr>
                      <a:r>
                        <a:rPr sz="1000" b="1">
                          <a:solidFill>
                            <a:srgbClr val="FFFFFF"/>
                          </a:solidFill>
                          <a:latin typeface="Aptos"/>
                        </a:rPr>
                        <a:t>Destination</a:t>
                      </a:r>
                    </a:p>
                  </a:txBody>
                  <a:tcPr marL="64008" marR="64008" marT="36576" marB="36576">
                    <a:solidFill>
                      <a:srgbClr val="132238"/>
                    </a:solidFill>
                  </a:tcPr>
                </a:tc>
              </a:tr>
              <a:tr h="588645">
                <a:tc>
                  <a:txBody>
                    <a:bodyPr wrap="square"/>
                    <a:lstStyle/>
                    <a:p>
                      <a:pPr>
                        <a:spcAft>
                          <a:spcPts val="0"/>
                        </a:spcAft>
                      </a:pPr>
                      <a:r>
                        <a:rPr sz="900" b="0">
                          <a:solidFill>
                            <a:srgbClr val="14213D"/>
                          </a:solidFill>
                          <a:latin typeface="Aptos"/>
                        </a:rPr>
                        <a:t>1748544388944</a:t>
                      </a:r>
                    </a:p>
                  </a:txBody>
                  <a:tcPr marL="64008" marR="64008" marT="36576" marB="36576">
                    <a:solidFill>
                      <a:srgbClr val="FFFFFF"/>
                    </a:solidFill>
                  </a:tcPr>
                </a:tc>
                <a:tc>
                  <a:txBody>
                    <a:bodyPr wrap="square"/>
                    <a:lstStyle/>
                    <a:p>
                      <a:pPr>
                        <a:spcAft>
                          <a:spcPts val="0"/>
                        </a:spcAft>
                      </a:pPr>
                      <a:r>
                        <a:rPr sz="1000" b="1">
                          <a:solidFill>
                            <a:srgbClr val="14213D"/>
                          </a:solidFill>
                          <a:latin typeface="Aptos"/>
                        </a:rPr>
                        <a:t>Lower cover</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r>
              <a:tr h="588645">
                <a:tc>
                  <a:txBody>
                    <a:bodyPr wrap="square"/>
                    <a:lstStyle/>
                    <a:p>
                      <a:pPr>
                        <a:spcAft>
                          <a:spcPts val="0"/>
                        </a:spcAft>
                      </a:pPr>
                      <a:r>
                        <a:rPr sz="900" b="0">
                          <a:solidFill>
                            <a:srgbClr val="14213D"/>
                          </a:solidFill>
                          <a:latin typeface="Aptos"/>
                        </a:rPr>
                        <a:t>1748487669392</a:t>
                      </a:r>
                    </a:p>
                  </a:txBody>
                  <a:tcPr marL="64008" marR="64008" marT="36576" marB="36576">
                    <a:solidFill>
                      <a:srgbClr val="F0F5FA"/>
                    </a:solidFill>
                  </a:tcPr>
                </a:tc>
                <a:tc>
                  <a:txBody>
                    <a:bodyPr wrap="square"/>
                    <a:lstStyle/>
                    <a:p>
                      <a:pPr>
                        <a:spcAft>
                          <a:spcPts val="0"/>
                        </a:spcAft>
                      </a:pPr>
                      <a:r>
                        <a:rPr sz="1000" b="1">
                          <a:solidFill>
                            <a:srgbClr val="14213D"/>
                          </a:solidFill>
                          <a:latin typeface="Aptos"/>
                        </a:rPr>
                        <a:t>Door spring</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r>
              <a:tr h="588645">
                <a:tc>
                  <a:txBody>
                    <a:bodyPr wrap="square"/>
                    <a:lstStyle/>
                    <a:p>
                      <a:pPr>
                        <a:spcAft>
                          <a:spcPts val="0"/>
                        </a:spcAft>
                      </a:pPr>
                      <a:r>
                        <a:rPr sz="900" b="0">
                          <a:solidFill>
                            <a:srgbClr val="14213D"/>
                          </a:solidFill>
                          <a:latin typeface="Aptos"/>
                        </a:rPr>
                        <a:t>1748544383760</a:t>
                      </a:r>
                    </a:p>
                  </a:txBody>
                  <a:tcPr marL="64008" marR="64008" marT="36576" marB="36576">
                    <a:solidFill>
                      <a:srgbClr val="FFFFFF"/>
                    </a:solidFill>
                  </a:tcPr>
                </a:tc>
                <a:tc>
                  <a:txBody>
                    <a:bodyPr wrap="square"/>
                    <a:lstStyle/>
                    <a:p>
                      <a:pPr>
                        <a:spcAft>
                          <a:spcPts val="0"/>
                        </a:spcAft>
                      </a:pPr>
                      <a:r>
                        <a:rPr sz="1000" b="1">
                          <a:solidFill>
                            <a:srgbClr val="14213D"/>
                          </a:solidFill>
                          <a:latin typeface="Aptos"/>
                        </a:rPr>
                        <a:t>Front cover</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r>
              <a:tr h="588645">
                <a:tc>
                  <a:txBody>
                    <a:bodyPr wrap="square"/>
                    <a:lstStyle/>
                    <a:p>
                      <a:pPr>
                        <a:spcAft>
                          <a:spcPts val="0"/>
                        </a:spcAft>
                      </a:pPr>
                      <a:r>
                        <a:rPr sz="900" b="0">
                          <a:solidFill>
                            <a:srgbClr val="14213D"/>
                          </a:solidFill>
                          <a:latin typeface="Aptos"/>
                        </a:rPr>
                        <a:t>1748544103120</a:t>
                      </a:r>
                    </a:p>
                  </a:txBody>
                  <a:tcPr marL="64008" marR="64008" marT="36576" marB="36576">
                    <a:solidFill>
                      <a:srgbClr val="F0F5FA"/>
                    </a:solidFill>
                  </a:tcPr>
                </a:tc>
                <a:tc>
                  <a:txBody>
                    <a:bodyPr wrap="square"/>
                    <a:lstStyle/>
                    <a:p>
                      <a:pPr>
                        <a:spcAft>
                          <a:spcPts val="0"/>
                        </a:spcAft>
                      </a:pPr>
                      <a:r>
                        <a:rPr sz="1000" b="1">
                          <a:solidFill>
                            <a:srgbClr val="14213D"/>
                          </a:solidFill>
                          <a:latin typeface="Aptos"/>
                        </a:rPr>
                        <a:t>Handle</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r>
              <a:tr h="588645">
                <a:tc>
                  <a:txBody>
                    <a:bodyPr wrap="square"/>
                    <a:lstStyle/>
                    <a:p>
                      <a:pPr>
                        <a:spcAft>
                          <a:spcPts val="0"/>
                        </a:spcAft>
                      </a:pPr>
                      <a:r>
                        <a:rPr sz="900" b="0">
                          <a:solidFill>
                            <a:srgbClr val="14213D"/>
                          </a:solidFill>
                          <a:latin typeface="Aptos"/>
                        </a:rPr>
                        <a:t>1748544094992</a:t>
                      </a:r>
                    </a:p>
                  </a:txBody>
                  <a:tcPr marL="64008" marR="64008" marT="36576" marB="36576">
                    <a:solidFill>
                      <a:srgbClr val="FFFFFF"/>
                    </a:solidFill>
                  </a:tcPr>
                </a:tc>
                <a:tc>
                  <a:txBody>
                    <a:bodyPr wrap="square"/>
                    <a:lstStyle/>
                    <a:p>
                      <a:pPr>
                        <a:spcAft>
                          <a:spcPts val="0"/>
                        </a:spcAft>
                      </a:pPr>
                      <a:r>
                        <a:rPr sz="1000" b="1">
                          <a:solidFill>
                            <a:srgbClr val="14213D"/>
                          </a:solidFill>
                          <a:latin typeface="Aptos"/>
                        </a:rPr>
                        <a:t>Control panel</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r>
              <a:tr h="588645">
                <a:tc>
                  <a:txBody>
                    <a:bodyPr wrap="square"/>
                    <a:lstStyle/>
                    <a:p>
                      <a:pPr>
                        <a:spcAft>
                          <a:spcPts val="0"/>
                        </a:spcAft>
                      </a:pPr>
                      <a:r>
                        <a:rPr sz="900" b="0">
                          <a:solidFill>
                            <a:srgbClr val="14213D"/>
                          </a:solidFill>
                          <a:latin typeface="Aptos"/>
                        </a:rPr>
                        <a:t>1748544426896</a:t>
                      </a:r>
                    </a:p>
                  </a:txBody>
                  <a:tcPr marL="64008" marR="64008" marT="36576" marB="36576">
                    <a:solidFill>
                      <a:srgbClr val="F0F5FA"/>
                    </a:solidFill>
                  </a:tcPr>
                </a:tc>
                <a:tc>
                  <a:txBody>
                    <a:bodyPr wrap="square"/>
                    <a:lstStyle/>
                    <a:p>
                      <a:pPr>
                        <a:spcAft>
                          <a:spcPts val="0"/>
                        </a:spcAft>
                      </a:pPr>
                      <a:r>
                        <a:rPr sz="1000" b="1">
                          <a:solidFill>
                            <a:srgbClr val="14213D"/>
                          </a:solidFill>
                          <a:latin typeface="Aptos"/>
                        </a:rPr>
                        <a:t>Blower cover</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c>
                  <a:txBody>
                    <a:bodyPr wrap="square"/>
                    <a:lstStyle/>
                    <a:p>
                      <a:pPr>
                        <a:spcAft>
                          <a:spcPts val="0"/>
                        </a:spcAft>
                      </a:pPr>
                      <a:r>
                        <a:rPr sz="900" b="0">
                          <a:solidFill>
                            <a:srgbClr val="14213D"/>
                          </a:solidFill>
                          <a:latin typeface="Aptos"/>
                        </a:rPr>
                        <a:t>—</a:t>
                      </a:r>
                    </a:p>
                  </a:txBody>
                  <a:tcPr marL="64008" marR="64008" marT="36576" marB="36576">
                    <a:solidFill>
                      <a:srgbClr val="F0F5FA"/>
                    </a:solidFill>
                  </a:tcPr>
                </a:tc>
              </a:tr>
              <a:tr h="588645">
                <a:tc>
                  <a:txBody>
                    <a:bodyPr wrap="square"/>
                    <a:lstStyle/>
                    <a:p>
                      <a:pPr>
                        <a:spcAft>
                          <a:spcPts val="0"/>
                        </a:spcAft>
                      </a:pPr>
                      <a:r>
                        <a:rPr sz="900" b="0">
                          <a:solidFill>
                            <a:srgbClr val="14213D"/>
                          </a:solidFill>
                          <a:latin typeface="Aptos"/>
                        </a:rPr>
                        <a:t>1748544431888</a:t>
                      </a:r>
                    </a:p>
                  </a:txBody>
                  <a:tcPr marL="64008" marR="64008" marT="36576" marB="36576">
                    <a:solidFill>
                      <a:srgbClr val="FFFFFF"/>
                    </a:solidFill>
                  </a:tcPr>
                </a:tc>
                <a:tc>
                  <a:txBody>
                    <a:bodyPr wrap="square"/>
                    <a:lstStyle/>
                    <a:p>
                      <a:pPr>
                        <a:spcAft>
                          <a:spcPts val="0"/>
                        </a:spcAft>
                      </a:pPr>
                      <a:r>
                        <a:rPr sz="1000" b="1">
                          <a:solidFill>
                            <a:srgbClr val="14213D"/>
                          </a:solidFill>
                          <a:latin typeface="Aptos"/>
                        </a:rPr>
                        <a:t>Blower without cover</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Unknown</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c>
                  <a:txBody>
                    <a:bodyPr wrap="square"/>
                    <a:lstStyle/>
                    <a:p>
                      <a:pPr>
                        <a:spcAft>
                          <a:spcPts val="0"/>
                        </a:spcAft>
                      </a:pPr>
                      <a:r>
                        <a:rPr sz="900" b="0">
                          <a:solidFill>
                            <a:srgbClr val="14213D"/>
                          </a:solidFill>
                          <a:latin typeface="Aptos"/>
                        </a:rPr>
                        <a:t>—</a:t>
                      </a:r>
                    </a:p>
                  </a:txBody>
                  <a:tcPr marL="64008" marR="64008" marT="36576" marB="36576">
                    <a:solidFill>
                      <a:srgbClr val="FFFFFF"/>
                    </a:solidFill>
                  </a:tcPr>
                </a:tc>
              </a:tr>
            </a:tbl>
          </a:graphicData>
        </a:graphic>
      </p:graphicFrame>
      <p:sp>
        <p:nvSpPr>
          <p:cNvPr id="5" name="TextBox 4"/>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6" name="TextBox 5"/>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1</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lower cover</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Dishwasher LG LDF5545ST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two front screws</a:t>
            </a:r>
          </a:p>
        </p:txBody>
      </p:sp>
      <p:sp>
        <p:nvSpPr>
          <p:cNvPr id="13" name="Rounded Rectangle 12"/>
          <p:cNvSpPr/>
          <p:nvPr/>
        </p:nvSpPr>
        <p:spPr>
          <a:xfrm>
            <a:off x="7635240" y="2194560"/>
            <a:ext cx="3931920" cy="187451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0" y="2331720"/>
            <a:ext cx="3657600" cy="1371599"/>
          </a:xfrm>
          <a:prstGeom prst="roundRect">
            <a:avLst>
              <a:gd name="adj" fmla="val 8000"/>
            </a:avLst>
          </a:prstGeom>
          <a:solidFill>
            <a:srgbClr val="EEF2F7"/>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0" y="3758183"/>
            <a:ext cx="3657600" cy="164592"/>
          </a:xfrm>
          <a:prstGeom prst="rect">
            <a:avLst/>
          </a:prstGeom>
          <a:noFill/>
        </p:spPr>
        <p:txBody>
          <a:bodyPr wrap="square" lIns="27432" rIns="27432" tIns="27432" bIns="27432" anchor="t">
            <a:spAutoFit/>
          </a:bodyPr>
          <a:lstStyle/>
          <a:p>
            <a:pPr algn="ctr">
              <a:spcAft>
                <a:spcPts val="0"/>
              </a:spcAft>
            </a:pPr>
            <a:r>
              <a:rPr sz="800" b="1">
                <a:solidFill>
                  <a:srgbClr val="64748B"/>
                </a:solidFill>
                <a:latin typeface="Aptos"/>
              </a:rPr>
              <a:t>Action 1</a:t>
            </a:r>
          </a:p>
        </p:txBody>
      </p:sp>
      <p:sp>
        <p:nvSpPr>
          <p:cNvPr id="16" name="Rounded Rectangle 15"/>
          <p:cNvSpPr/>
          <p:nvPr/>
        </p:nvSpPr>
        <p:spPr>
          <a:xfrm>
            <a:off x="7635240" y="4251960"/>
            <a:ext cx="3931920" cy="1920240"/>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4531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18" name="TextBox 17"/>
          <p:cNvSpPr txBox="1"/>
          <p:nvPr/>
        </p:nvSpPr>
        <p:spPr>
          <a:xfrm>
            <a:off x="7863840" y="4754880"/>
            <a:ext cx="3474720" cy="68580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 Lower cover (Unknown)
• Door spring (Unknown)</a:t>
            </a:r>
          </a:p>
        </p:txBody>
      </p:sp>
      <p:sp>
        <p:nvSpPr>
          <p:cNvPr id="19" name="TextBox 18"/>
          <p:cNvSpPr txBox="1"/>
          <p:nvPr/>
        </p:nvSpPr>
        <p:spPr>
          <a:xfrm>
            <a:off x="7863840" y="54864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0" name="TextBox 19"/>
          <p:cNvSpPr txBox="1"/>
          <p:nvPr/>
        </p:nvSpPr>
        <p:spPr>
          <a:xfrm>
            <a:off x="7863840" y="570585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 Diswasher body (without lower cover) (Unknown)</a:t>
            </a:r>
          </a:p>
        </p:txBody>
      </p:sp>
      <p:sp>
        <p:nvSpPr>
          <p:cNvPr id="21" name="TextBox 20"/>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22" name="TextBox 21"/>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2</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front cover</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Diswasher body (without lower cover)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Open the door</a:t>
            </a:r>
          </a:p>
        </p:txBody>
      </p:sp>
      <p:sp>
        <p:nvSpPr>
          <p:cNvPr id="13" name="Rounded Rectangle 12"/>
          <p:cNvSpPr/>
          <p:nvPr/>
        </p:nvSpPr>
        <p:spPr>
          <a:xfrm>
            <a:off x="868680" y="3337560"/>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55848"/>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2</a:t>
            </a:r>
          </a:p>
        </p:txBody>
      </p:sp>
      <p:sp>
        <p:nvSpPr>
          <p:cNvPr id="15" name="TextBox 14"/>
          <p:cNvSpPr txBox="1"/>
          <p:nvPr/>
        </p:nvSpPr>
        <p:spPr>
          <a:xfrm>
            <a:off x="1353312" y="3319272"/>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6 screws</a:t>
            </a:r>
          </a:p>
        </p:txBody>
      </p:sp>
      <p:sp>
        <p:nvSpPr>
          <p:cNvPr id="16" name="Rounded Rectangle 15"/>
          <p:cNvSpPr/>
          <p:nvPr/>
        </p:nvSpPr>
        <p:spPr>
          <a:xfrm>
            <a:off x="7635240" y="2194560"/>
            <a:ext cx="393192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3957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18" name="TextBox 17"/>
          <p:cNvSpPr txBox="1"/>
          <p:nvPr/>
        </p:nvSpPr>
        <p:spPr>
          <a:xfrm>
            <a:off x="7863840" y="2697480"/>
            <a:ext cx="3474720" cy="1188720"/>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 Front cover (Unknown)</a:t>
            </a:r>
          </a:p>
        </p:txBody>
      </p:sp>
      <p:sp>
        <p:nvSpPr>
          <p:cNvPr id="19" name="TextBox 18"/>
          <p:cNvSpPr txBox="1"/>
          <p:nvPr/>
        </p:nvSpPr>
        <p:spPr>
          <a:xfrm>
            <a:off x="7863840" y="402336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0" name="TextBox 19"/>
          <p:cNvSpPr txBox="1"/>
          <p:nvPr/>
        </p:nvSpPr>
        <p:spPr>
          <a:xfrm>
            <a:off x="7863840" y="424281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 Dishwasher body without covers (Unknown)</a:t>
            </a:r>
          </a:p>
        </p:txBody>
      </p:sp>
      <p:sp>
        <p:nvSpPr>
          <p:cNvPr id="21" name="TextBox 20"/>
          <p:cNvSpPr txBox="1"/>
          <p:nvPr/>
        </p:nvSpPr>
        <p:spPr>
          <a:xfrm>
            <a:off x="7863840" y="48006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TOOLS</a:t>
            </a:r>
          </a:p>
        </p:txBody>
      </p:sp>
      <p:sp>
        <p:nvSpPr>
          <p:cNvPr id="22" name="TextBox 21"/>
          <p:cNvSpPr txBox="1"/>
          <p:nvPr/>
        </p:nvSpPr>
        <p:spPr>
          <a:xfrm>
            <a:off x="7863840" y="5010912"/>
            <a:ext cx="3474720" cy="41148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No tools specified</a:t>
            </a:r>
          </a:p>
        </p:txBody>
      </p:sp>
      <p:sp>
        <p:nvSpPr>
          <p:cNvPr id="23" name="TextBox 22"/>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24" name="TextBox 23"/>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3</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control panel</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Dishwasher body without covers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6 screws</a:t>
            </a:r>
          </a:p>
        </p:txBody>
      </p:sp>
      <p:sp>
        <p:nvSpPr>
          <p:cNvPr id="13" name="Rounded Rectangle 12"/>
          <p:cNvSpPr/>
          <p:nvPr/>
        </p:nvSpPr>
        <p:spPr>
          <a:xfrm>
            <a:off x="868680" y="3337560"/>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55848"/>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2</a:t>
            </a:r>
          </a:p>
        </p:txBody>
      </p:sp>
      <p:sp>
        <p:nvSpPr>
          <p:cNvPr id="15" name="TextBox 14"/>
          <p:cNvSpPr txBox="1"/>
          <p:nvPr/>
        </p:nvSpPr>
        <p:spPr>
          <a:xfrm>
            <a:off x="1353312" y="3319272"/>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wire connections</a:t>
            </a:r>
          </a:p>
        </p:txBody>
      </p:sp>
      <p:sp>
        <p:nvSpPr>
          <p:cNvPr id="16" name="Rounded Rectangle 15"/>
          <p:cNvSpPr/>
          <p:nvPr/>
        </p:nvSpPr>
        <p:spPr>
          <a:xfrm>
            <a:off x="868680" y="3858768"/>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77055"/>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3</a:t>
            </a:r>
          </a:p>
        </p:txBody>
      </p:sp>
      <p:sp>
        <p:nvSpPr>
          <p:cNvPr id="18" name="TextBox 17"/>
          <p:cNvSpPr txBox="1"/>
          <p:nvPr/>
        </p:nvSpPr>
        <p:spPr>
          <a:xfrm>
            <a:off x="1353312" y="3840480"/>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handle: Pull the handle forward to separate it from hook</a:t>
            </a:r>
          </a:p>
        </p:txBody>
      </p:sp>
      <p:sp>
        <p:nvSpPr>
          <p:cNvPr id="19" name="Rounded Rectangle 18"/>
          <p:cNvSpPr/>
          <p:nvPr/>
        </p:nvSpPr>
        <p:spPr>
          <a:xfrm>
            <a:off x="868680" y="4379976"/>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98264"/>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4</a:t>
            </a:r>
          </a:p>
        </p:txBody>
      </p:sp>
      <p:sp>
        <p:nvSpPr>
          <p:cNvPr id="21" name="TextBox 20"/>
          <p:cNvSpPr txBox="1"/>
          <p:nvPr/>
        </p:nvSpPr>
        <p:spPr>
          <a:xfrm>
            <a:off x="1353312" y="4361688"/>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handle: Push left and right hooks</a:t>
            </a:r>
          </a:p>
        </p:txBody>
      </p:sp>
      <p:sp>
        <p:nvSpPr>
          <p:cNvPr id="22" name="Rounded Rectangle 21"/>
          <p:cNvSpPr/>
          <p:nvPr/>
        </p:nvSpPr>
        <p:spPr>
          <a:xfrm>
            <a:off x="868680" y="4901184"/>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919472"/>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5</a:t>
            </a:r>
          </a:p>
        </p:txBody>
      </p:sp>
      <p:sp>
        <p:nvSpPr>
          <p:cNvPr id="24" name="TextBox 23"/>
          <p:cNvSpPr txBox="1"/>
          <p:nvPr/>
        </p:nvSpPr>
        <p:spPr>
          <a:xfrm>
            <a:off x="1353312" y="4882896"/>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handle</a:t>
            </a:r>
          </a:p>
        </p:txBody>
      </p:sp>
      <p:sp>
        <p:nvSpPr>
          <p:cNvPr id="25" name="Rounded Rectangle 24"/>
          <p:cNvSpPr/>
          <p:nvPr/>
        </p:nvSpPr>
        <p:spPr>
          <a:xfrm>
            <a:off x="7635240" y="2194560"/>
            <a:ext cx="393192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23957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27" name="TextBox 26"/>
          <p:cNvSpPr txBox="1"/>
          <p:nvPr/>
        </p:nvSpPr>
        <p:spPr>
          <a:xfrm>
            <a:off x="7863840" y="2697480"/>
            <a:ext cx="3474720" cy="1188720"/>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 Handle (Unknown)
• Control panel (Unknown)</a:t>
            </a:r>
          </a:p>
        </p:txBody>
      </p:sp>
      <p:sp>
        <p:nvSpPr>
          <p:cNvPr id="28" name="TextBox 27"/>
          <p:cNvSpPr txBox="1"/>
          <p:nvPr/>
        </p:nvSpPr>
        <p:spPr>
          <a:xfrm>
            <a:off x="7863840" y="402336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9" name="TextBox 28"/>
          <p:cNvSpPr txBox="1"/>
          <p:nvPr/>
        </p:nvSpPr>
        <p:spPr>
          <a:xfrm>
            <a:off x="7863840" y="424281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 Door liner (Unknown)</a:t>
            </a:r>
          </a:p>
        </p:txBody>
      </p:sp>
      <p:sp>
        <p:nvSpPr>
          <p:cNvPr id="30" name="TextBox 29"/>
          <p:cNvSpPr txBox="1"/>
          <p:nvPr/>
        </p:nvSpPr>
        <p:spPr>
          <a:xfrm>
            <a:off x="7863840" y="48006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TOOLS</a:t>
            </a:r>
          </a:p>
        </p:txBody>
      </p:sp>
      <p:sp>
        <p:nvSpPr>
          <p:cNvPr id="31" name="TextBox 30"/>
          <p:cNvSpPr txBox="1"/>
          <p:nvPr/>
        </p:nvSpPr>
        <p:spPr>
          <a:xfrm>
            <a:off x="7863840" y="5010912"/>
            <a:ext cx="3474720" cy="41148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No tools specified</a:t>
            </a:r>
          </a:p>
        </p:txBody>
      </p:sp>
      <p:sp>
        <p:nvSpPr>
          <p:cNvPr id="32" name="TextBox 31"/>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33" name="TextBox 32"/>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4</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blower</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Door liner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screw</a:t>
            </a:r>
          </a:p>
        </p:txBody>
      </p:sp>
      <p:sp>
        <p:nvSpPr>
          <p:cNvPr id="13" name="Rounded Rectangle 12"/>
          <p:cNvSpPr/>
          <p:nvPr/>
        </p:nvSpPr>
        <p:spPr>
          <a:xfrm>
            <a:off x="868680" y="3337560"/>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55848"/>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2</a:t>
            </a:r>
          </a:p>
        </p:txBody>
      </p:sp>
      <p:sp>
        <p:nvSpPr>
          <p:cNvPr id="15" name="TextBox 14"/>
          <p:cNvSpPr txBox="1"/>
          <p:nvPr/>
        </p:nvSpPr>
        <p:spPr>
          <a:xfrm>
            <a:off x="1353312" y="3319272"/>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Remove the vent from fan motor</a:t>
            </a:r>
          </a:p>
        </p:txBody>
      </p:sp>
      <p:sp>
        <p:nvSpPr>
          <p:cNvPr id="16" name="Rounded Rectangle 15"/>
          <p:cNvSpPr/>
          <p:nvPr/>
        </p:nvSpPr>
        <p:spPr>
          <a:xfrm>
            <a:off x="868680" y="3858768"/>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77055"/>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3</a:t>
            </a:r>
          </a:p>
        </p:txBody>
      </p:sp>
      <p:sp>
        <p:nvSpPr>
          <p:cNvPr id="18" name="TextBox 17"/>
          <p:cNvSpPr txBox="1"/>
          <p:nvPr/>
        </p:nvSpPr>
        <p:spPr>
          <a:xfrm>
            <a:off x="1353312" y="3840480"/>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Disconnect the connector</a:t>
            </a:r>
          </a:p>
        </p:txBody>
      </p:sp>
      <p:sp>
        <p:nvSpPr>
          <p:cNvPr id="19" name="Rounded Rectangle 18"/>
          <p:cNvSpPr/>
          <p:nvPr/>
        </p:nvSpPr>
        <p:spPr>
          <a:xfrm>
            <a:off x="868680" y="4379976"/>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98264"/>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4</a:t>
            </a:r>
          </a:p>
        </p:txBody>
      </p:sp>
      <p:sp>
        <p:nvSpPr>
          <p:cNvPr id="21" name="TextBox 20"/>
          <p:cNvSpPr txBox="1"/>
          <p:nvPr/>
        </p:nvSpPr>
        <p:spPr>
          <a:xfrm>
            <a:off x="1353312" y="4361688"/>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Open the door</a:t>
            </a:r>
          </a:p>
        </p:txBody>
      </p:sp>
      <p:sp>
        <p:nvSpPr>
          <p:cNvPr id="22" name="Rounded Rectangle 21"/>
          <p:cNvSpPr/>
          <p:nvPr/>
        </p:nvSpPr>
        <p:spPr>
          <a:xfrm>
            <a:off x="7635240" y="2194560"/>
            <a:ext cx="393192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23957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24" name="TextBox 23"/>
          <p:cNvSpPr txBox="1"/>
          <p:nvPr/>
        </p:nvSpPr>
        <p:spPr>
          <a:xfrm>
            <a:off x="7863840" y="2697480"/>
            <a:ext cx="3474720" cy="1188720"/>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 No separate output component encoded</a:t>
            </a:r>
          </a:p>
        </p:txBody>
      </p:sp>
      <p:sp>
        <p:nvSpPr>
          <p:cNvPr id="25" name="TextBox 24"/>
          <p:cNvSpPr txBox="1"/>
          <p:nvPr/>
        </p:nvSpPr>
        <p:spPr>
          <a:xfrm>
            <a:off x="7863840" y="402336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6" name="TextBox 25"/>
          <p:cNvSpPr txBox="1"/>
          <p:nvPr/>
        </p:nvSpPr>
        <p:spPr>
          <a:xfrm>
            <a:off x="7863840" y="424281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 Blower (Unknown)
• Door liner without blower (Unknown)</a:t>
            </a:r>
          </a:p>
        </p:txBody>
      </p:sp>
      <p:sp>
        <p:nvSpPr>
          <p:cNvPr id="27" name="TextBox 26"/>
          <p:cNvSpPr txBox="1"/>
          <p:nvPr/>
        </p:nvSpPr>
        <p:spPr>
          <a:xfrm>
            <a:off x="7863840" y="48006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TOOLS</a:t>
            </a:r>
          </a:p>
        </p:txBody>
      </p:sp>
      <p:sp>
        <p:nvSpPr>
          <p:cNvPr id="28" name="TextBox 27"/>
          <p:cNvSpPr txBox="1"/>
          <p:nvPr/>
        </p:nvSpPr>
        <p:spPr>
          <a:xfrm>
            <a:off x="7863840" y="5010912"/>
            <a:ext cx="3474720" cy="41148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No tools specified</a:t>
            </a:r>
          </a:p>
        </p:txBody>
      </p:sp>
      <p:sp>
        <p:nvSpPr>
          <p:cNvPr id="29" name="TextBox 28"/>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30" name="TextBox 29"/>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5</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the blower cover</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Blower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Insert flathead screwdriver in hole A</a:t>
            </a:r>
          </a:p>
        </p:txBody>
      </p:sp>
      <p:sp>
        <p:nvSpPr>
          <p:cNvPr id="13" name="Rounded Rectangle 12"/>
          <p:cNvSpPr/>
          <p:nvPr/>
        </p:nvSpPr>
        <p:spPr>
          <a:xfrm>
            <a:off x="868680" y="3337560"/>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55848"/>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2</a:t>
            </a:r>
          </a:p>
        </p:txBody>
      </p:sp>
      <p:sp>
        <p:nvSpPr>
          <p:cNvPr id="15" name="TextBox 14"/>
          <p:cNvSpPr txBox="1"/>
          <p:nvPr/>
        </p:nvSpPr>
        <p:spPr>
          <a:xfrm>
            <a:off x="1353312" y="3319272"/>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Rotate flathead screwdriver slowly</a:t>
            </a:r>
          </a:p>
        </p:txBody>
      </p:sp>
      <p:sp>
        <p:nvSpPr>
          <p:cNvPr id="16" name="Rounded Rectangle 15"/>
          <p:cNvSpPr/>
          <p:nvPr/>
        </p:nvSpPr>
        <p:spPr>
          <a:xfrm>
            <a:off x="7635240" y="2194560"/>
            <a:ext cx="393192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3957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18" name="TextBox 17"/>
          <p:cNvSpPr txBox="1"/>
          <p:nvPr/>
        </p:nvSpPr>
        <p:spPr>
          <a:xfrm>
            <a:off x="7863840" y="2697480"/>
            <a:ext cx="3474720" cy="1188720"/>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 Blower cover (Unknown)
• Blower without cover (Unknown)</a:t>
            </a:r>
          </a:p>
        </p:txBody>
      </p:sp>
      <p:sp>
        <p:nvSpPr>
          <p:cNvPr id="19" name="TextBox 18"/>
          <p:cNvSpPr txBox="1"/>
          <p:nvPr/>
        </p:nvSpPr>
        <p:spPr>
          <a:xfrm>
            <a:off x="7863840" y="402336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0" name="TextBox 19"/>
          <p:cNvSpPr txBox="1"/>
          <p:nvPr/>
        </p:nvSpPr>
        <p:spPr>
          <a:xfrm>
            <a:off x="7863840" y="424281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End of this branch</a:t>
            </a:r>
          </a:p>
        </p:txBody>
      </p:sp>
      <p:sp>
        <p:nvSpPr>
          <p:cNvPr id="21" name="TextBox 20"/>
          <p:cNvSpPr txBox="1"/>
          <p:nvPr/>
        </p:nvSpPr>
        <p:spPr>
          <a:xfrm>
            <a:off x="7863840" y="48006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TOOLS</a:t>
            </a:r>
          </a:p>
        </p:txBody>
      </p:sp>
      <p:sp>
        <p:nvSpPr>
          <p:cNvPr id="22" name="TextBox 21"/>
          <p:cNvSpPr txBox="1"/>
          <p:nvPr/>
        </p:nvSpPr>
        <p:spPr>
          <a:xfrm>
            <a:off x="7863840" y="5010912"/>
            <a:ext cx="3474720" cy="41148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No tools specified</a:t>
            </a:r>
          </a:p>
        </p:txBody>
      </p:sp>
      <p:sp>
        <p:nvSpPr>
          <p:cNvPr id="23" name="TextBox 22"/>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24" name="TextBox 23"/>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94360" y="329184"/>
            <a:ext cx="5303520" cy="256032"/>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ACTION GROUP 6</a:t>
            </a:r>
          </a:p>
        </p:txBody>
      </p:sp>
      <p:sp>
        <p:nvSpPr>
          <p:cNvPr id="3" name="TextBox 2"/>
          <p:cNvSpPr txBox="1"/>
          <p:nvPr/>
        </p:nvSpPr>
        <p:spPr>
          <a:xfrm>
            <a:off x="594360" y="640080"/>
            <a:ext cx="10972800" cy="502920"/>
          </a:xfrm>
          <a:prstGeom prst="rect">
            <a:avLst/>
          </a:prstGeom>
          <a:noFill/>
        </p:spPr>
        <p:txBody>
          <a:bodyPr wrap="square" lIns="27432" rIns="27432" tIns="27432" bIns="27432" anchor="t">
            <a:spAutoFit/>
          </a:bodyPr>
          <a:lstStyle/>
          <a:p>
            <a:pPr algn="l">
              <a:spcAft>
                <a:spcPts val="0"/>
              </a:spcAft>
            </a:pPr>
            <a:r>
              <a:rPr sz="2700" b="1">
                <a:solidFill>
                  <a:srgbClr val="14213D"/>
                </a:solidFill>
                <a:latin typeface="Aptos"/>
              </a:rPr>
              <a:t>Remove the dispenser</a:t>
            </a:r>
          </a:p>
        </p:txBody>
      </p:sp>
      <p:sp>
        <p:nvSpPr>
          <p:cNvPr id="4" name="TextBox 3"/>
          <p:cNvSpPr txBox="1"/>
          <p:nvPr/>
        </p:nvSpPr>
        <p:spPr>
          <a:xfrm>
            <a:off x="594360" y="1188720"/>
            <a:ext cx="10972800" cy="411480"/>
          </a:xfrm>
          <a:prstGeom prst="rect">
            <a:avLst/>
          </a:prstGeom>
          <a:noFill/>
        </p:spPr>
        <p:txBody>
          <a:bodyPr wrap="square" lIns="27432" rIns="27432" tIns="27432" bIns="27432" anchor="t">
            <a:spAutoFit/>
          </a:bodyPr>
          <a:lstStyle/>
          <a:p>
            <a:pPr algn="l">
              <a:spcAft>
                <a:spcPts val="0"/>
              </a:spcAft>
            </a:pPr>
            <a:r>
              <a:rPr sz="1200" b="0">
                <a:solidFill>
                  <a:srgbClr val="64748B"/>
                </a:solidFill>
                <a:latin typeface="Aptos"/>
              </a:rPr>
              <a:t>Atomic actions are grouped under their parent disassembly operation.</a:t>
            </a:r>
          </a:p>
        </p:txBody>
      </p:sp>
      <p:sp>
        <p:nvSpPr>
          <p:cNvPr id="5" name="Rounded Rectangle 4"/>
          <p:cNvSpPr/>
          <p:nvPr/>
        </p:nvSpPr>
        <p:spPr>
          <a:xfrm>
            <a:off x="594360" y="1554480"/>
            <a:ext cx="10972800" cy="438912"/>
          </a:xfrm>
          <a:prstGeom prst="roundRect">
            <a:avLst>
              <a:gd name="adj" fmla="val 8000"/>
            </a:avLst>
          </a:prstGeom>
          <a:solidFill>
            <a:srgbClr val="DFF5F4"/>
          </a:solidFill>
          <a:ln>
            <a:solidFill>
              <a:srgbClr val="DFF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64208"/>
            <a:ext cx="8229600" cy="201168"/>
          </a:xfrm>
          <a:prstGeom prst="rect">
            <a:avLst/>
          </a:prstGeom>
          <a:noFill/>
        </p:spPr>
        <p:txBody>
          <a:bodyPr wrap="square" lIns="27432" rIns="27432" tIns="27432" bIns="27432" anchor="t">
            <a:spAutoFit/>
          </a:bodyPr>
          <a:lstStyle/>
          <a:p>
            <a:pPr algn="l">
              <a:spcAft>
                <a:spcPts val="0"/>
              </a:spcAft>
            </a:pPr>
            <a:r>
              <a:rPr sz="1100" b="1">
                <a:solidFill>
                  <a:srgbClr val="14213D"/>
                </a:solidFill>
                <a:latin typeface="Aptos"/>
              </a:rPr>
              <a:t>Source: Door liner without blower (Unknown)</a:t>
            </a:r>
          </a:p>
        </p:txBody>
      </p:sp>
      <p:sp>
        <p:nvSpPr>
          <p:cNvPr id="7" name="TextBox 6"/>
          <p:cNvSpPr txBox="1"/>
          <p:nvPr/>
        </p:nvSpPr>
        <p:spPr>
          <a:xfrm>
            <a:off x="9464040" y="1664208"/>
            <a:ext cx="1783080" cy="201168"/>
          </a:xfrm>
          <a:prstGeom prst="rect">
            <a:avLst/>
          </a:prstGeom>
          <a:noFill/>
        </p:spPr>
        <p:txBody>
          <a:bodyPr wrap="square" lIns="27432" rIns="27432" tIns="27432" bIns="27432" anchor="t">
            <a:spAutoFit/>
          </a:bodyPr>
          <a:lstStyle/>
          <a:p>
            <a:pPr algn="r">
              <a:spcAft>
                <a:spcPts val="0"/>
              </a:spcAft>
            </a:pPr>
            <a:r>
              <a:rPr sz="900" b="1">
                <a:solidFill>
                  <a:srgbClr val="19A7A0"/>
                </a:solidFill>
                <a:latin typeface="Aptos"/>
              </a:rPr>
              <a:t>explicit source</a:t>
            </a:r>
          </a:p>
        </p:txBody>
      </p:sp>
      <p:sp>
        <p:nvSpPr>
          <p:cNvPr id="8" name="Rounded Rectangle 7"/>
          <p:cNvSpPr/>
          <p:nvPr/>
        </p:nvSpPr>
        <p:spPr>
          <a:xfrm>
            <a:off x="594360" y="2194560"/>
            <a:ext cx="681228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50592"/>
            <a:ext cx="2743200" cy="228600"/>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ATOMIC ACTIONS</a:t>
            </a:r>
          </a:p>
        </p:txBody>
      </p:sp>
      <p:sp>
        <p:nvSpPr>
          <p:cNvPr id="10" name="Rounded Rectangle 9"/>
          <p:cNvSpPr/>
          <p:nvPr/>
        </p:nvSpPr>
        <p:spPr>
          <a:xfrm>
            <a:off x="868680" y="2816352"/>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834640"/>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1</a:t>
            </a:r>
          </a:p>
        </p:txBody>
      </p:sp>
      <p:sp>
        <p:nvSpPr>
          <p:cNvPr id="12" name="TextBox 11"/>
          <p:cNvSpPr txBox="1"/>
          <p:nvPr/>
        </p:nvSpPr>
        <p:spPr>
          <a:xfrm>
            <a:off x="1353312" y="2798064"/>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Close the door</a:t>
            </a:r>
          </a:p>
        </p:txBody>
      </p:sp>
      <p:sp>
        <p:nvSpPr>
          <p:cNvPr id="13" name="Rounded Rectangle 12"/>
          <p:cNvSpPr/>
          <p:nvPr/>
        </p:nvSpPr>
        <p:spPr>
          <a:xfrm>
            <a:off x="868680" y="3337560"/>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355848"/>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2</a:t>
            </a:r>
          </a:p>
        </p:txBody>
      </p:sp>
      <p:sp>
        <p:nvSpPr>
          <p:cNvPr id="15" name="TextBox 14"/>
          <p:cNvSpPr txBox="1"/>
          <p:nvPr/>
        </p:nvSpPr>
        <p:spPr>
          <a:xfrm>
            <a:off x="1353312" y="3319272"/>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Disconnect electrical wires</a:t>
            </a:r>
          </a:p>
        </p:txBody>
      </p:sp>
      <p:sp>
        <p:nvSpPr>
          <p:cNvPr id="16" name="Rounded Rectangle 15"/>
          <p:cNvSpPr/>
          <p:nvPr/>
        </p:nvSpPr>
        <p:spPr>
          <a:xfrm>
            <a:off x="868680" y="3858768"/>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877055"/>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3</a:t>
            </a:r>
          </a:p>
        </p:txBody>
      </p:sp>
      <p:sp>
        <p:nvSpPr>
          <p:cNvPr id="18" name="TextBox 17"/>
          <p:cNvSpPr txBox="1"/>
          <p:nvPr/>
        </p:nvSpPr>
        <p:spPr>
          <a:xfrm>
            <a:off x="1353312" y="3840480"/>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Insert the two side pieces into the inside of the dispenser</a:t>
            </a:r>
          </a:p>
        </p:txBody>
      </p:sp>
      <p:sp>
        <p:nvSpPr>
          <p:cNvPr id="19" name="Rounded Rectangle 18"/>
          <p:cNvSpPr/>
          <p:nvPr/>
        </p:nvSpPr>
        <p:spPr>
          <a:xfrm>
            <a:off x="868680" y="4379976"/>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98264"/>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4</a:t>
            </a:r>
          </a:p>
        </p:txBody>
      </p:sp>
      <p:sp>
        <p:nvSpPr>
          <p:cNvPr id="21" name="TextBox 20"/>
          <p:cNvSpPr txBox="1"/>
          <p:nvPr/>
        </p:nvSpPr>
        <p:spPr>
          <a:xfrm>
            <a:off x="1353312" y="4361688"/>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Insert the bottom piece</a:t>
            </a:r>
          </a:p>
        </p:txBody>
      </p:sp>
      <p:sp>
        <p:nvSpPr>
          <p:cNvPr id="22" name="Rounded Rectangle 21"/>
          <p:cNvSpPr/>
          <p:nvPr/>
        </p:nvSpPr>
        <p:spPr>
          <a:xfrm>
            <a:off x="868680" y="4901184"/>
            <a:ext cx="347472" cy="347472"/>
          </a:xfrm>
          <a:prstGeom prst="roundRect">
            <a:avLst>
              <a:gd name="adj" fmla="val 8000"/>
            </a:avLst>
          </a:prstGeom>
          <a:solidFill>
            <a:srgbClr val="19A7A0"/>
          </a:solidFill>
          <a:ln>
            <a:solidFill>
              <a:srgbClr val="19A7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919472"/>
            <a:ext cx="347472" cy="256032"/>
          </a:xfrm>
          <a:prstGeom prst="rect">
            <a:avLst/>
          </a:prstGeom>
          <a:noFill/>
        </p:spPr>
        <p:txBody>
          <a:bodyPr wrap="square" lIns="27432" rIns="27432" tIns="27432" bIns="27432" anchor="ctr">
            <a:spAutoFit/>
          </a:bodyPr>
          <a:lstStyle/>
          <a:p>
            <a:pPr algn="ctr">
              <a:spcAft>
                <a:spcPts val="0"/>
              </a:spcAft>
            </a:pPr>
            <a:r>
              <a:rPr sz="1000" b="1">
                <a:solidFill>
                  <a:srgbClr val="FFFFFF"/>
                </a:solidFill>
                <a:latin typeface="Aptos"/>
              </a:rPr>
              <a:t>5</a:t>
            </a:r>
          </a:p>
        </p:txBody>
      </p:sp>
      <p:sp>
        <p:nvSpPr>
          <p:cNvPr id="24" name="TextBox 23"/>
          <p:cNvSpPr txBox="1"/>
          <p:nvPr/>
        </p:nvSpPr>
        <p:spPr>
          <a:xfrm>
            <a:off x="1353312" y="4882896"/>
            <a:ext cx="5715000" cy="475488"/>
          </a:xfrm>
          <a:prstGeom prst="rect">
            <a:avLst/>
          </a:prstGeom>
          <a:noFill/>
        </p:spPr>
        <p:txBody>
          <a:bodyPr wrap="square" lIns="27432" rIns="27432" tIns="27432" bIns="27432" anchor="t">
            <a:spAutoFit/>
          </a:bodyPr>
          <a:lstStyle/>
          <a:p>
            <a:pPr algn="l">
              <a:spcAft>
                <a:spcPts val="0"/>
              </a:spcAft>
            </a:pPr>
            <a:r>
              <a:rPr sz="1400" b="0">
                <a:solidFill>
                  <a:srgbClr val="14213D"/>
                </a:solidFill>
                <a:latin typeface="Aptos"/>
              </a:rPr>
              <a:t>Open the door and pull the dispenser from the bottom up and pull out (When pulling out the dispenser from the door, lift slightly the bottom of dispenser inside, then remove the "Bottom" jig.)</a:t>
            </a:r>
          </a:p>
        </p:txBody>
      </p:sp>
      <p:sp>
        <p:nvSpPr>
          <p:cNvPr id="25" name="Rounded Rectangle 24"/>
          <p:cNvSpPr/>
          <p:nvPr/>
        </p:nvSpPr>
        <p:spPr>
          <a:xfrm>
            <a:off x="7635240" y="2194560"/>
            <a:ext cx="3931920" cy="3977639"/>
          </a:xfrm>
          <a:prstGeom prst="roundRect">
            <a:avLst>
              <a:gd name="adj" fmla="val 8000"/>
            </a:avLst>
          </a:prstGeom>
          <a:solidFill>
            <a:srgbClr val="FFFFFF"/>
          </a:solidFill>
          <a:ln>
            <a:solidFill>
              <a:srgbClr val="D9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0" y="2395728"/>
            <a:ext cx="1371600" cy="201168"/>
          </a:xfrm>
          <a:prstGeom prst="rect">
            <a:avLst/>
          </a:prstGeom>
          <a:noFill/>
        </p:spPr>
        <p:txBody>
          <a:bodyPr wrap="square" lIns="27432" rIns="27432" tIns="27432" bIns="27432" anchor="t">
            <a:spAutoFit/>
          </a:bodyPr>
          <a:lstStyle/>
          <a:p>
            <a:pPr algn="l">
              <a:spcAft>
                <a:spcPts val="0"/>
              </a:spcAft>
            </a:pPr>
            <a:r>
              <a:rPr sz="1000" b="1">
                <a:solidFill>
                  <a:srgbClr val="19A7A0"/>
                </a:solidFill>
                <a:latin typeface="Aptos"/>
              </a:rPr>
              <a:t>RESULT</a:t>
            </a:r>
          </a:p>
        </p:txBody>
      </p:sp>
      <p:sp>
        <p:nvSpPr>
          <p:cNvPr id="27" name="TextBox 26"/>
          <p:cNvSpPr txBox="1"/>
          <p:nvPr/>
        </p:nvSpPr>
        <p:spPr>
          <a:xfrm>
            <a:off x="7863840" y="2697480"/>
            <a:ext cx="3474720" cy="1188720"/>
          </a:xfrm>
          <a:prstGeom prst="rect">
            <a:avLst/>
          </a:prstGeom>
          <a:noFill/>
        </p:spPr>
        <p:txBody>
          <a:bodyPr wrap="square" lIns="27432" rIns="27432" tIns="27432" bIns="27432" anchor="t">
            <a:spAutoFit/>
          </a:bodyPr>
          <a:lstStyle/>
          <a:p>
            <a:pPr algn="l">
              <a:spcAft>
                <a:spcPts val="0"/>
              </a:spcAft>
            </a:pPr>
            <a:r>
              <a:rPr sz="1100" b="0">
                <a:solidFill>
                  <a:srgbClr val="14213D"/>
                </a:solidFill>
                <a:latin typeface="Aptos"/>
              </a:rPr>
              <a:t>• No separate output component encoded</a:t>
            </a:r>
          </a:p>
        </p:txBody>
      </p:sp>
      <p:sp>
        <p:nvSpPr>
          <p:cNvPr id="28" name="TextBox 27"/>
          <p:cNvSpPr txBox="1"/>
          <p:nvPr/>
        </p:nvSpPr>
        <p:spPr>
          <a:xfrm>
            <a:off x="7863840" y="402336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CONTINUES AS</a:t>
            </a:r>
          </a:p>
        </p:txBody>
      </p:sp>
      <p:sp>
        <p:nvSpPr>
          <p:cNvPr id="29" name="TextBox 28"/>
          <p:cNvSpPr txBox="1"/>
          <p:nvPr/>
        </p:nvSpPr>
        <p:spPr>
          <a:xfrm>
            <a:off x="7863840" y="4242816"/>
            <a:ext cx="3474720" cy="384048"/>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End of this branch</a:t>
            </a:r>
          </a:p>
        </p:txBody>
      </p:sp>
      <p:sp>
        <p:nvSpPr>
          <p:cNvPr id="30" name="TextBox 29"/>
          <p:cNvSpPr txBox="1"/>
          <p:nvPr/>
        </p:nvSpPr>
        <p:spPr>
          <a:xfrm>
            <a:off x="7863840" y="4800600"/>
            <a:ext cx="3474720" cy="182880"/>
          </a:xfrm>
          <a:prstGeom prst="rect">
            <a:avLst/>
          </a:prstGeom>
          <a:noFill/>
        </p:spPr>
        <p:txBody>
          <a:bodyPr wrap="square" lIns="27432" rIns="27432" tIns="27432" bIns="27432" anchor="t">
            <a:spAutoFit/>
          </a:bodyPr>
          <a:lstStyle/>
          <a:p>
            <a:pPr algn="l">
              <a:spcAft>
                <a:spcPts val="0"/>
              </a:spcAft>
            </a:pPr>
            <a:r>
              <a:rPr sz="900" b="1">
                <a:solidFill>
                  <a:srgbClr val="19A7A0"/>
                </a:solidFill>
                <a:latin typeface="Aptos"/>
              </a:rPr>
              <a:t>TOOLS</a:t>
            </a:r>
          </a:p>
        </p:txBody>
      </p:sp>
      <p:sp>
        <p:nvSpPr>
          <p:cNvPr id="31" name="TextBox 30"/>
          <p:cNvSpPr txBox="1"/>
          <p:nvPr/>
        </p:nvSpPr>
        <p:spPr>
          <a:xfrm>
            <a:off x="7863840" y="5010912"/>
            <a:ext cx="3474720" cy="411480"/>
          </a:xfrm>
          <a:prstGeom prst="rect">
            <a:avLst/>
          </a:prstGeom>
          <a:noFill/>
        </p:spPr>
        <p:txBody>
          <a:bodyPr wrap="square" lIns="27432" rIns="27432" tIns="27432" bIns="27432" anchor="t">
            <a:spAutoFit/>
          </a:bodyPr>
          <a:lstStyle/>
          <a:p>
            <a:pPr algn="l">
              <a:spcAft>
                <a:spcPts val="0"/>
              </a:spcAft>
            </a:pPr>
            <a:r>
              <a:rPr sz="1000" b="0">
                <a:solidFill>
                  <a:srgbClr val="14213D"/>
                </a:solidFill>
                <a:latin typeface="Aptos"/>
              </a:rPr>
              <a:t>No tools specified</a:t>
            </a:r>
          </a:p>
        </p:txBody>
      </p:sp>
      <p:sp>
        <p:nvSpPr>
          <p:cNvPr id="32" name="TextBox 31"/>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33" name="TextBox 32"/>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238"/>
        </a:solidFill>
        <a:effectLst/>
      </p:bgPr>
    </p:bg>
    <p:spTree>
      <p:nvGrpSpPr>
        <p:cNvPr id="1" name=""/>
        <p:cNvGrpSpPr/>
        <p:nvPr/>
      </p:nvGrpSpPr>
      <p:grpSpPr/>
      <p:sp>
        <p:nvSpPr>
          <p:cNvPr id="2" name="TextBox 1"/>
          <p:cNvSpPr txBox="1"/>
          <p:nvPr/>
        </p:nvSpPr>
        <p:spPr>
          <a:xfrm>
            <a:off x="777240" y="1234440"/>
            <a:ext cx="4754880" cy="292608"/>
          </a:xfrm>
          <a:prstGeom prst="rect">
            <a:avLst/>
          </a:prstGeom>
          <a:noFill/>
        </p:spPr>
        <p:txBody>
          <a:bodyPr wrap="square" lIns="27432" rIns="27432" tIns="27432" bIns="27432" anchor="t">
            <a:spAutoFit/>
          </a:bodyPr>
          <a:lstStyle/>
          <a:p>
            <a:pPr algn="l">
              <a:spcAft>
                <a:spcPts val="0"/>
              </a:spcAft>
            </a:pPr>
            <a:r>
              <a:rPr sz="1200" b="1">
                <a:solidFill>
                  <a:srgbClr val="19A7A0"/>
                </a:solidFill>
                <a:latin typeface="Aptos"/>
              </a:rPr>
              <a:t>EXPORT COMPLETE</a:t>
            </a:r>
          </a:p>
        </p:txBody>
      </p:sp>
      <p:sp>
        <p:nvSpPr>
          <p:cNvPr id="3" name="TextBox 2"/>
          <p:cNvSpPr txBox="1"/>
          <p:nvPr/>
        </p:nvSpPr>
        <p:spPr>
          <a:xfrm>
            <a:off x="777240" y="1828800"/>
            <a:ext cx="9601200" cy="777240"/>
          </a:xfrm>
          <a:prstGeom prst="rect">
            <a:avLst/>
          </a:prstGeom>
          <a:noFill/>
        </p:spPr>
        <p:txBody>
          <a:bodyPr wrap="square" lIns="27432" rIns="27432" tIns="27432" bIns="27432" anchor="t">
            <a:spAutoFit/>
          </a:bodyPr>
          <a:lstStyle/>
          <a:p>
            <a:pPr algn="l">
              <a:spcAft>
                <a:spcPts val="0"/>
              </a:spcAft>
            </a:pPr>
            <a:r>
              <a:rPr sz="3600" b="1">
                <a:solidFill>
                  <a:srgbClr val="FFFFFF"/>
                </a:solidFill>
                <a:latin typeface="Aptos"/>
              </a:rPr>
              <a:t>6 action groups prepared</a:t>
            </a:r>
          </a:p>
        </p:txBody>
      </p:sp>
      <p:sp>
        <p:nvSpPr>
          <p:cNvPr id="4" name="TextBox 3"/>
          <p:cNvSpPr txBox="1"/>
          <p:nvPr/>
        </p:nvSpPr>
        <p:spPr>
          <a:xfrm>
            <a:off x="777240" y="2971800"/>
            <a:ext cx="9692640" cy="914400"/>
          </a:xfrm>
          <a:prstGeom prst="rect">
            <a:avLst/>
          </a:prstGeom>
          <a:noFill/>
        </p:spPr>
        <p:txBody>
          <a:bodyPr wrap="square" lIns="27432" rIns="27432" tIns="27432" bIns="27432" anchor="t">
            <a:spAutoFit/>
          </a:bodyPr>
          <a:lstStyle/>
          <a:p>
            <a:pPr algn="l">
              <a:spcAft>
                <a:spcPts val="0"/>
              </a:spcAft>
            </a:pPr>
            <a:r>
              <a:rPr sz="1800" b="0">
                <a:solidFill>
                  <a:srgbClr val="FFFFFF"/>
                </a:solidFill>
                <a:latin typeface="Aptos"/>
              </a:rPr>
              <a:t>The PowerPoint remains fully editable: text, tables, images and component information can be revised after export.</a:t>
            </a:r>
          </a:p>
        </p:txBody>
      </p:sp>
      <p:sp>
        <p:nvSpPr>
          <p:cNvPr id="5" name="Rounded Rectangle 4"/>
          <p:cNvSpPr/>
          <p:nvPr/>
        </p:nvSpPr>
        <p:spPr>
          <a:xfrm>
            <a:off x="777240" y="4800600"/>
            <a:ext cx="4937760" cy="777240"/>
          </a:xfrm>
          <a:prstGeom prst="roundRect">
            <a:avLst>
              <a:gd name="adj" fmla="val 8000"/>
            </a:avLst>
          </a:prstGeom>
          <a:solidFill>
            <a:srgbClr val="1E3450"/>
          </a:solidFill>
          <a:ln>
            <a:solidFill>
              <a:srgbClr val="1E34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029200"/>
            <a:ext cx="4480560" cy="292608"/>
          </a:xfrm>
          <a:prstGeom prst="rect">
            <a:avLst/>
          </a:prstGeom>
          <a:noFill/>
        </p:spPr>
        <p:txBody>
          <a:bodyPr wrap="square" lIns="27432" rIns="27432" tIns="27432" bIns="27432" anchor="t">
            <a:spAutoFit/>
          </a:bodyPr>
          <a:lstStyle/>
          <a:p>
            <a:pPr algn="l">
              <a:spcAft>
                <a:spcPts val="0"/>
              </a:spcAft>
            </a:pPr>
            <a:r>
              <a:rPr sz="1300" b="1">
                <a:solidFill>
                  <a:srgbClr val="19A7A0"/>
                </a:solidFill>
                <a:latin typeface="Aptos"/>
              </a:rPr>
              <a:t>Dishwasher LG LDF5545ST</a:t>
            </a:r>
          </a:p>
        </p:txBody>
      </p:sp>
      <p:sp>
        <p:nvSpPr>
          <p:cNvPr id="7" name="TextBox 6"/>
          <p:cNvSpPr txBox="1"/>
          <p:nvPr/>
        </p:nvSpPr>
        <p:spPr>
          <a:xfrm>
            <a:off x="594360" y="6547104"/>
            <a:ext cx="8686800" cy="164592"/>
          </a:xfrm>
          <a:prstGeom prst="rect">
            <a:avLst/>
          </a:prstGeom>
          <a:noFill/>
        </p:spPr>
        <p:txBody>
          <a:bodyPr wrap="square" lIns="27432" rIns="27432" tIns="27432" bIns="27432" anchor="t">
            <a:spAutoFit/>
          </a:bodyPr>
          <a:lstStyle/>
          <a:p>
            <a:pPr algn="l">
              <a:spcAft>
                <a:spcPts val="0"/>
              </a:spcAft>
            </a:pPr>
            <a:r>
              <a:rPr sz="800" b="0">
                <a:solidFill>
                  <a:srgbClr val="64748B"/>
                </a:solidFill>
                <a:latin typeface="Aptos"/>
              </a:rPr>
              <a:t>Dishwasher LG LDF5545ST</a:t>
            </a:r>
          </a:p>
        </p:txBody>
      </p:sp>
      <p:sp>
        <p:nvSpPr>
          <p:cNvPr id="8" name="TextBox 7"/>
          <p:cNvSpPr txBox="1"/>
          <p:nvPr/>
        </p:nvSpPr>
        <p:spPr>
          <a:xfrm>
            <a:off x="10835640" y="6547104"/>
            <a:ext cx="731520" cy="164592"/>
          </a:xfrm>
          <a:prstGeom prst="rect">
            <a:avLst/>
          </a:prstGeom>
          <a:noFill/>
        </p:spPr>
        <p:txBody>
          <a:bodyPr wrap="square" lIns="27432" rIns="27432" tIns="27432" bIns="27432" anchor="t">
            <a:spAutoFit/>
          </a:bodyPr>
          <a:lstStyle/>
          <a:p>
            <a:pPr algn="r">
              <a:spcAft>
                <a:spcPts val="0"/>
              </a:spcAft>
            </a:pPr>
            <a:r>
              <a:rPr sz="800" b="1">
                <a:solidFill>
                  <a:srgbClr val="64748B"/>
                </a:solidFill>
                <a:latin typeface="Aptos"/>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