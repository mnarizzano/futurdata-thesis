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39712"/>
          </a:xfrm>
          <a:prstGeom prst="rect">
            <a:avLst/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4572000" cy="320040"/>
          </a:xfrm>
          <a:prstGeom prst="rect">
            <a:avLst/>
          </a:prstGeom>
          <a:noFill/>
        </p:spPr>
        <p:txBody>
          <a:bodyPr wrap="square" lIns="12801" rIns="12801" tIns="12801" bIns="1280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19A7A0"/>
                </a:solidFill>
                <a:latin typeface="Arial"/>
              </a:rPr>
              <a:t>FUTURDATA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685800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Disassembly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685800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Nespresso Essenza 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83280"/>
            <a:ext cx="6858000" cy="548640"/>
          </a:xfrm>
          <a:prstGeom prst="rect">
            <a:avLst/>
          </a:prstGeom>
          <a:noFill/>
        </p:spPr>
        <p:txBody>
          <a:bodyPr wrap="square" lIns="21945" rIns="21945" tIns="21945" bIns="2194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D4E3"/>
                </a:solidFill>
                <a:latin typeface="Arial"/>
              </a:rPr>
              <a:t>PPTX export • 4 action group(s) • depth: DepthMode.FULL • schema 1.1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89204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1E3450"/>
          </a:solidFill>
          <a:ln>
            <a:solidFill>
              <a:srgbClr val="1E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102352"/>
            <a:ext cx="2971800" cy="274320"/>
          </a:xfrm>
          <a:prstGeom prst="rect">
            <a:avLst/>
          </a:prstGeom>
          <a:noFill/>
        </p:spPr>
        <p:txBody>
          <a:bodyPr wrap="square" lIns="10972" rIns="10972" tIns="10972" bIns="1097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Nominal weight  2300 g</a:t>
            </a:r>
          </a:p>
        </p:txBody>
      </p:sp>
      <p:pic>
        <p:nvPicPr>
          <p:cNvPr id="9" name="Picture 8" descr="component_20260922_1236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412945"/>
            <a:ext cx="3383280" cy="21235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Export scope and model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975104"/>
            <a:ext cx="21031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PRODUCT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286000"/>
            <a:ext cx="21031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>
                <a:solidFill>
                  <a:srgbClr val="14213D"/>
                </a:solidFill>
                <a:latin typeface="Arial"/>
              </a:rPr>
              <a:t>2046969915728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0712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975104"/>
            <a:ext cx="21031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ACTION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286000"/>
            <a:ext cx="21031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4213D"/>
                </a:solidFill>
                <a:latin typeface="Arial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975104"/>
            <a:ext cx="21031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BOM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286000"/>
            <a:ext cx="21031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4213D"/>
                </a:solidFill>
                <a:latin typeface="Arial"/>
              </a:rPr>
              <a:t>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43416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44584" y="1975104"/>
            <a:ext cx="21031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VALIDATION 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2286000"/>
            <a:ext cx="21031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4213D"/>
                </a:solidFill>
                <a:latin typeface="Arial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46120"/>
            <a:ext cx="54406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02152"/>
            <a:ext cx="22860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PRODUCT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822191"/>
            <a:ext cx="4846320" cy="1600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Name: Nespresso Essenza Mini
Weight: 2300 g
Material: Unknown
Color: Unknown
Depth mode: DepthMode.FULL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246120"/>
            <a:ext cx="5321808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502152"/>
            <a:ext cx="25603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EXPORT BEHAVIOUR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822191"/>
            <a:ext cx="4617720" cy="1600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• Parent operation and atomic actions stay grouped.
• Output components and remaining assembly are shown.
• Text and images remain editable in PowerPoint.
• Unknown branch sources are never guessed.
• Source JSON is opened read-only and never modified.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Tools and safety notices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Aggregated from step-level and atomic-action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34924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30175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9A7A0"/>
                </a:solidFill>
                <a:latin typeface="Arial"/>
              </a:rPr>
              <a:t>TOOLS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617720" cy="3337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• No tools are specified in this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4924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30175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SAFETY NOTICES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17720" cy="3337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• No safety notices are specified in this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BILL OF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Recovered components — page 1 of 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078991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749039"/>
                <a:gridCol w="1051560"/>
                <a:gridCol w="1234440"/>
                <a:gridCol w="960120"/>
                <a:gridCol w="1508760"/>
                <a:gridCol w="1645920"/>
              </a:tblGrid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Material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Color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Destination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915984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Water Tank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150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916048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Drip Tray &amp; Grid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100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Plastic; Scientific: 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PC; Technical: PC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915920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Capsule Bin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80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Plastic; Scientific: 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PC; Technical: PC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916560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Oval-head Security Screws (x4)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10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916240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Side Panels (Left &amp; Right)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400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916944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Brewing Chamber (Capsule slot)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300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916880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Top Lever / Handle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150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917392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Silicone Tubing &amp; Wiring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230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470916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917328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Motherboard (PCB)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80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BILL OF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Recovered components — page 2 of 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078991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749039"/>
                <a:gridCol w="1051560"/>
                <a:gridCol w="1234440"/>
                <a:gridCol w="960120"/>
                <a:gridCol w="1508760"/>
                <a:gridCol w="1645920"/>
              </a:tblGrid>
              <a:tr h="156972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Material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Color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Destination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</a:tr>
              <a:tr h="156972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917520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Water Pump (19-bar)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350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156972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2046969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917648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Thermoblock (Heater)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450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Manually detach the drip tray, water tank, and pull out the used capsule bin. No tools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Nespresso Essenza Mini (2300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Manually detach the drip tray, water tank, and pull out the used capsule 
bin. No tools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94560"/>
            <a:ext cx="39319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mponent_bbbff756fa674994ba6c2eb9378008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635504"/>
            <a:ext cx="1146047" cy="764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Water Tank</a:t>
            </a:r>
          </a:p>
        </p:txBody>
      </p:sp>
      <p:pic>
        <p:nvPicPr>
          <p:cNvPr id="16" name="Picture 15" descr="component_97b0cf945a5d45f8a1c79e533606efb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176" y="2635504"/>
            <a:ext cx="1146047" cy="764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28176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Drip Tray &amp; Grid</a:t>
            </a:r>
          </a:p>
        </p:txBody>
      </p:sp>
      <p:pic>
        <p:nvPicPr>
          <p:cNvPr id="18" name="Picture 17" descr="component_48eb4aa5f3be48ac92a0c14dfcad0cc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952" y="2635504"/>
            <a:ext cx="1146047" cy="764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83952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Capsule Bin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25196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4531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54880"/>
            <a:ext cx="34747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Water Tank (150 g)
• Drip Tray &amp; Grid (100 g)
• Capsule Bin (80 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4864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70585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Main Housing (1970 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4213D"/>
                </a:solidFill>
                <a:latin typeface="Arial"/>
              </a:rPr>
              <a:t>Remove the 4 proprietary oval-head screws at the bottom of the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Main Housing (1970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Release Bottom Clips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94560"/>
            <a:ext cx="39319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ep_20260928_100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635504"/>
            <a:ext cx="1146047" cy="764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Action 1</a:t>
            </a:r>
          </a:p>
        </p:txBody>
      </p:sp>
      <p:pic>
        <p:nvPicPr>
          <p:cNvPr id="16" name="Picture 15" descr="component_ad313722c4cf42e8a5af750e287ce81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176" y="2635504"/>
            <a:ext cx="1146047" cy="764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28176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500" b="1">
                <a:solidFill>
                  <a:srgbClr val="64748B"/>
                </a:solidFill>
                <a:latin typeface="Arial"/>
              </a:rPr>
              <a:t>Oval-head Security Screws (x4)</a:t>
            </a:r>
          </a:p>
        </p:txBody>
      </p:sp>
      <p:pic>
        <p:nvPicPr>
          <p:cNvPr id="18" name="Picture 17" descr="component_489432953d394baaba40a06d4da6810f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952" y="2520899"/>
            <a:ext cx="1146047" cy="99324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83952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00" b="1">
                <a:solidFill>
                  <a:srgbClr val="64748B"/>
                </a:solidFill>
                <a:latin typeface="Arial"/>
              </a:rPr>
              <a:t>Side Panels (Left &amp; Right)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25196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4531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54880"/>
            <a:ext cx="34747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Oval-head Security Screws (x4) (10 g)
• Side Panels (Left &amp; Right) (400 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4864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70585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Internal Chassis (Core) (Unknown)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4213D"/>
                </a:solidFill>
                <a:latin typeface="Arial"/>
              </a:rPr>
              <a:t>Unscrew the top lever mechanism and carefully detach the brewing chamber from the water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Internal Chassis (Core) (Unknown)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Unscrew the top lever mechanism and carefully detach the brewing 
chamber from the water 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94560"/>
            <a:ext cx="39319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mponent_39d293bb845f436cb054750a97d804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635504"/>
            <a:ext cx="1146047" cy="764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500" b="1">
                <a:solidFill>
                  <a:srgbClr val="64748B"/>
                </a:solidFill>
                <a:latin typeface="Arial"/>
              </a:rPr>
              <a:t>Brewing Chamber (Capsule slot)</a:t>
            </a:r>
          </a:p>
        </p:txBody>
      </p:sp>
      <p:pic>
        <p:nvPicPr>
          <p:cNvPr id="16" name="Picture 15" descr="component_aae2da23db7346708dd0da9f282fd6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176" y="2635504"/>
            <a:ext cx="1146047" cy="764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28176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Top Lever / Handle</a:t>
            </a:r>
          </a:p>
        </p:txBody>
      </p:sp>
      <p:pic>
        <p:nvPicPr>
          <p:cNvPr id="18" name="Picture 17" descr="component_07eaa776dd344a6d923fe89ce1d17f5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3287" y="2331720"/>
            <a:ext cx="1027376" cy="13715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83952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Lower Engine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25196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4531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54880"/>
            <a:ext cx="34747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Brewing Chamber (Capsule slot) (300 g)
• Top Lever / Handle (150 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4864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70585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Lower Engine Core (1110 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213D"/>
                </a:solidFill>
                <a:latin typeface="Arial"/>
              </a:rPr>
              <a:t>Unplug the wiring harness from the motherboard, pull out the water pump, and detach the thermoblock heater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Lower Engine Core (1110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Unplug the wiring harness from the motherboard, pull out the water 
pump, and detach the thermoblock heater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94560"/>
            <a:ext cx="39319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mponent_20260929_1001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635504"/>
            <a:ext cx="1146047" cy="764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00" b="1">
                <a:solidFill>
                  <a:srgbClr val="64748B"/>
                </a:solidFill>
                <a:latin typeface="Arial"/>
              </a:rPr>
              <a:t>Silicone Tubing &amp; Wiring</a:t>
            </a:r>
          </a:p>
        </p:txBody>
      </p:sp>
      <p:pic>
        <p:nvPicPr>
          <p:cNvPr id="16" name="Picture 15" descr="component_20260929_09535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176" y="2635504"/>
            <a:ext cx="1146047" cy="764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28176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Motherboard (PCB)</a:t>
            </a:r>
          </a:p>
        </p:txBody>
      </p:sp>
      <p:pic>
        <p:nvPicPr>
          <p:cNvPr id="18" name="Picture 17" descr="component_20260928_1437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952" y="2635504"/>
            <a:ext cx="1146047" cy="764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83952" y="3758183"/>
            <a:ext cx="1146047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Water Pump (19-bar)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25196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4531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54880"/>
            <a:ext cx="34747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14213D"/>
                </a:solidFill>
                <a:latin typeface="Arial"/>
              </a:rPr>
              <a:t>• Silicone Tubing &amp; Wiring (230 g)
• Motherboard (PCB) (80 g)
• Water Pump (19-bar) (350 g)
• Thermoblock (Heater) (450 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4864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70585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End of this branch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34440"/>
            <a:ext cx="4754880" cy="292608"/>
          </a:xfrm>
          <a:prstGeom prst="rect">
            <a:avLst/>
          </a:prstGeom>
          <a:noFill/>
        </p:spPr>
        <p:txBody>
          <a:bodyPr wrap="square" lIns="11704" rIns="11704" tIns="11704" bIns="1170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19A7A0"/>
                </a:solidFill>
                <a:latin typeface="Arial"/>
              </a:rPr>
              <a:t>EXPORT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960120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4 action groups prepared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969264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The PowerPoint remains fully editable: text, tables, images and component information 
can be revised after export.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800600"/>
            <a:ext cx="4937760" cy="777240"/>
          </a:xfrm>
          <a:prstGeom prst="roundRect">
            <a:avLst>
              <a:gd name="adj" fmla="val 8000"/>
            </a:avLst>
          </a:prstGeom>
          <a:solidFill>
            <a:srgbClr val="1E3450"/>
          </a:solidFill>
          <a:ln>
            <a:solidFill>
              <a:srgbClr val="1E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029200"/>
            <a:ext cx="4480560" cy="292608"/>
          </a:xfrm>
          <a:prstGeom prst="rect">
            <a:avLst/>
          </a:prstGeom>
          <a:noFill/>
        </p:spPr>
        <p:txBody>
          <a:bodyPr wrap="square" lIns="11704" rIns="11704" tIns="11704" bIns="1170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9A7A0"/>
                </a:solidFill>
                <a:latin typeface="Arial"/>
              </a:rPr>
              <a:t>Nespresso Essenza 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Nespresso Essenza 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